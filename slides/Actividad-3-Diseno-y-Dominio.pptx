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4f65be60674eee" /><Relationship Type="http://schemas.openxmlformats.org/officeDocument/2006/relationships/extended-properties" Target="/docProps/app.xml" Id="R75f9fb41f4ae48ac" /><Relationship Type="http://schemas.openxmlformats.org/officeDocument/2006/relationships/officeDocument" Target="/ppt/presentation.xml" Id="Rdbb3771c2a424c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1eca5936604326"/>
  </p:sldMasterIdLst>
  <p:notesMasterIdLst>
    <p:notesMasterId xmlns:r="http://schemas.openxmlformats.org/officeDocument/2006/relationships" r:id="R4025935ed5724e4c"/>
  </p:notesMasterIdLst>
  <p:sldIdLst>
    <p:sldId xmlns:r="http://schemas.openxmlformats.org/officeDocument/2006/relationships" id="256" r:id="R69883459dc784466"/>
    <p:sldId xmlns:r="http://schemas.openxmlformats.org/officeDocument/2006/relationships" id="257" r:id="R6ec3541ba2e84178"/>
    <p:sldId xmlns:r="http://schemas.openxmlformats.org/officeDocument/2006/relationships" id="258" r:id="R28614ba7e0f94284"/>
    <p:sldId xmlns:r="http://schemas.openxmlformats.org/officeDocument/2006/relationships" id="259" r:id="R45d25dfd189b4229"/>
    <p:sldId xmlns:r="http://schemas.openxmlformats.org/officeDocument/2006/relationships" id="260" r:id="R3a4effda27d9410b"/>
    <p:sldId xmlns:r="http://schemas.openxmlformats.org/officeDocument/2006/relationships" id="261" r:id="R55a3dafc7c1c4caf"/>
    <p:sldId xmlns:r="http://schemas.openxmlformats.org/officeDocument/2006/relationships" id="262" r:id="Re8f29b6553344699"/>
    <p:sldId xmlns:r="http://schemas.openxmlformats.org/officeDocument/2006/relationships" id="263" r:id="R5f9e3f915b0e481a"/>
    <p:sldId xmlns:r="http://schemas.openxmlformats.org/officeDocument/2006/relationships" id="264" r:id="Rb3bbfe0332dd4f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2c275b43734ff4" /><Relationship Type="http://schemas.openxmlformats.org/officeDocument/2006/relationships/slideMaster" Target="/ppt/slideMasters/slideMaster1.xml" Id="Rd21eca5936604326" /><Relationship Type="http://schemas.openxmlformats.org/officeDocument/2006/relationships/notesMaster" Target="/ppt/notesMasters/notesMaster1.xml" Id="R4025935ed5724e4c" /><Relationship Type="http://schemas.openxmlformats.org/officeDocument/2006/relationships/presProps" Target="/ppt/presProps.xml" Id="R383819a8d5f246ff" /><Relationship Type="http://schemas.openxmlformats.org/officeDocument/2006/relationships/tableStyles" Target="/ppt/tableStyles.xml" Id="R93bf003498aa4882" /><Relationship Type="http://schemas.openxmlformats.org/officeDocument/2006/relationships/slide" Target="/ppt/slides/slide1.xml" Id="R69883459dc784466" /><Relationship Type="http://schemas.openxmlformats.org/officeDocument/2006/relationships/slide" Target="/ppt/slides/slide2.xml" Id="R6ec3541ba2e84178" /><Relationship Type="http://schemas.openxmlformats.org/officeDocument/2006/relationships/slide" Target="/ppt/slides/slide3.xml" Id="R28614ba7e0f94284" /><Relationship Type="http://schemas.openxmlformats.org/officeDocument/2006/relationships/slide" Target="/ppt/slides/slide4.xml" Id="R45d25dfd189b4229" /><Relationship Type="http://schemas.openxmlformats.org/officeDocument/2006/relationships/slide" Target="/ppt/slides/slide5.xml" Id="R3a4effda27d9410b" /><Relationship Type="http://schemas.openxmlformats.org/officeDocument/2006/relationships/slide" Target="/ppt/slides/slide6.xml" Id="R55a3dafc7c1c4caf" /><Relationship Type="http://schemas.openxmlformats.org/officeDocument/2006/relationships/slide" Target="/ppt/slides/slide7.xml" Id="Re8f29b6553344699" /><Relationship Type="http://schemas.openxmlformats.org/officeDocument/2006/relationships/slide" Target="/ppt/slides/slide8.xml" Id="R5f9e3f915b0e481a" /><Relationship Type="http://schemas.openxmlformats.org/officeDocument/2006/relationships/slide" Target="/ppt/slides/slide9.xml" Id="Rb3bbfe0332dd4f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395753594549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9fb4b171e040f0" /><Relationship Type="http://schemas.openxmlformats.org/officeDocument/2006/relationships/notesMaster" Target="/ppt/notesMasters/notesMaster1.xml" Id="R25d8845476af47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21a274c0494563" /><Relationship Type="http://schemas.openxmlformats.org/officeDocument/2006/relationships/notesMaster" Target="/ppt/notesMasters/notesMaster1.xml" Id="R4bc12a8a8b4e47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4046b89c4d4251" /><Relationship Type="http://schemas.openxmlformats.org/officeDocument/2006/relationships/notesMaster" Target="/ppt/notesMasters/notesMaster1.xml" Id="Ref0a5559cfe046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f4337814474fc0" /><Relationship Type="http://schemas.openxmlformats.org/officeDocument/2006/relationships/notesMaster" Target="/ppt/notesMasters/notesMaster1.xml" Id="R996e468026374c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7ce184ba134849" /><Relationship Type="http://schemas.openxmlformats.org/officeDocument/2006/relationships/notesMaster" Target="/ppt/notesMasters/notesMaster1.xml" Id="R9a8618bc52f74c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9db2c26b7b4779" /><Relationship Type="http://schemas.openxmlformats.org/officeDocument/2006/relationships/notesMaster" Target="/ppt/notesMasters/notesMaster1.xml" Id="R8e7b4a679eed43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383550048e4675" /><Relationship Type="http://schemas.openxmlformats.org/officeDocument/2006/relationships/notesMaster" Target="/ppt/notesMasters/notesMaster1.xml" Id="R2e84fc5835c542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20f933b4344008" /><Relationship Type="http://schemas.openxmlformats.org/officeDocument/2006/relationships/notesMaster" Target="/ppt/notesMasters/notesMaster1.xml" Id="R3ab62c89a0064f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445e4cbedb4ad0" /><Relationship Type="http://schemas.openxmlformats.org/officeDocument/2006/relationships/notesMaster" Target="/ppt/notesMasters/notesMaster1.xml" Id="R6fe6dda17c4b4e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flujo acotado AssignCourierUseCase. Los artefactos de arquitectura son una propuesta para la Actividad 3; no describen integraciones ya construidas.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00e06edd948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2deab54994a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a1877422840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8f5237bcf47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4c589f4be4d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6617b423b4e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8AA9E4-DA44-44A8-9E74-E5C520B0E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74EAF7-FEFA-4C53-BFD6-A5AD05E934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6441E4-6412-483B-8634-24E6B6F03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9E78F5-961E-4C69-9088-983EF9F45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EE31C8-7D8D-457E-955D-30BF0A57DD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5E0DDB-9C08-4F22-92B9-21BF6CCACB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01608C-8F06-47F5-8181-687E9B739B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523A3D-109D-4165-B7E3-734670D0A4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B37280-BFB8-4698-91EC-74481E3198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34CFE2-0B46-41B3-A8B3-E5AE76392A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7294fc91744a21" /><Relationship Type="http://schemas.openxmlformats.org/officeDocument/2006/relationships/slideLayout" Target="/ppt/slideLayouts/slideLayout1.xml" Id="R012721fa28d44a17" /><Relationship Type="http://schemas.openxmlformats.org/officeDocument/2006/relationships/slideLayout" Target="/ppt/slideLayouts/slideLayout2.xml" Id="R661034ab5e174343" /><Relationship Type="http://schemas.openxmlformats.org/officeDocument/2006/relationships/slideLayout" Target="/ppt/slideLayouts/slideLayout3.xml" Id="R3872093131ab41e9" /><Relationship Type="http://schemas.openxmlformats.org/officeDocument/2006/relationships/slideLayout" Target="/ppt/slideLayouts/slideLayout4.xml" Id="R18d8e27d79ef4c25" /><Relationship Type="http://schemas.openxmlformats.org/officeDocument/2006/relationships/slideLayout" Target="/ppt/slideLayouts/slideLayout5.xml" Id="R9c268313c5bc401b" /><Relationship Type="http://schemas.openxmlformats.org/officeDocument/2006/relationships/slideLayout" Target="/ppt/slideLayouts/slideLayout6.xml" Id="Rd0947dbfc2e940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2721fa28d44a17"/>
    <p:sldLayoutId xmlns:r="http://schemas.openxmlformats.org/officeDocument/2006/relationships" id="2147483650" r:id="R661034ab5e174343"/>
    <p:sldLayoutId xmlns:r="http://schemas.openxmlformats.org/officeDocument/2006/relationships" id="2147483651" r:id="R3872093131ab41e9"/>
    <p:sldLayoutId xmlns:r="http://schemas.openxmlformats.org/officeDocument/2006/relationships" id="2147483652" r:id="R18d8e27d79ef4c25"/>
    <p:sldLayoutId xmlns:r="http://schemas.openxmlformats.org/officeDocument/2006/relationships" id="2147483653" r:id="R9c268313c5bc401b"/>
    <p:sldLayoutId xmlns:r="http://schemas.openxmlformats.org/officeDocument/2006/relationships" id="2147483654" r:id="Rd0947dbfc2e940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ce9e205a14c19" /><Relationship Type="http://schemas.openxmlformats.org/officeDocument/2006/relationships/notesSlide" Target="/ppt/notesSlides/notesSlide1.xml" Id="R4ac5bc2b64ac4a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888afd7474e91" /><Relationship Type="http://schemas.openxmlformats.org/officeDocument/2006/relationships/notesSlide" Target="/ppt/notesSlides/notesSlide2.xml" Id="R627d31f4c37f46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6f6bf17404b08" /><Relationship Type="http://schemas.openxmlformats.org/officeDocument/2006/relationships/notesSlide" Target="/ppt/notesSlides/notesSlide3.xml" Id="Rbdb0d05910c044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05d44883944c7" /><Relationship Type="http://schemas.openxmlformats.org/officeDocument/2006/relationships/notesSlide" Target="/ppt/notesSlides/notesSlide4.xml" Id="R90a84ec4766a41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d26499b294db1" /><Relationship Type="http://schemas.openxmlformats.org/officeDocument/2006/relationships/notesSlide" Target="/ppt/notesSlides/notesSlide5.xml" Id="Rb60c3ae171f344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17f0779404651" /><Relationship Type="http://schemas.openxmlformats.org/officeDocument/2006/relationships/notesSlide" Target="/ppt/notesSlides/notesSlide6.xml" Id="R6ecddfdd8a0641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5b07df4364c55" /><Relationship Type="http://schemas.openxmlformats.org/officeDocument/2006/relationships/notesSlide" Target="/ppt/notesSlides/notesSlide7.xml" Id="R880d6147cd904d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5ab0e886d4ac3" /><Relationship Type="http://schemas.openxmlformats.org/officeDocument/2006/relationships/notesSlide" Target="/ppt/notesSlides/notesSlide8.xml" Id="Raea8a9882c8746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7e3057cb54287" /><Relationship Type="http://schemas.openxmlformats.org/officeDocument/2006/relationships/notesSlide" Target="/ppt/notesSlides/notesSlide9.xml" Id="R6e785e02ac2a4f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1377D52-4807-4BB5-9675-A9C547FA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C9D2933-A5E3-4E14-B71C-B016A276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096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5F467"/>
                </a:solidFill>
              </a:defRPr>
            </a:pPr>
            <a:r>
              <a:rPr sz="1275" b="1">
                <a:solidFill>
                  <a:srgbClr val="C5F467"/>
                </a:solidFill>
              </a:rPr>
              <a:t>ACTIVIDAD 3  /  DISEÑO Y DOMINIO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D0AF203-D126-44CC-B674-116AF159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5F7FA"/>
                </a:solidFill>
              </a:defRPr>
            </a:pPr>
            <a:r>
              <a:rPr sz="4050" b="1">
                <a:solidFill>
                  <a:srgbClr val="F5F7FA"/>
                </a:solidFill>
              </a:rPr>
              <a:t>Asignar un repartidor</a:t>
            </a:r>
          </a:p>
          <a:p xmlns:a="http://schemas.openxmlformats.org/drawingml/2006/main">
            <a:pPr algn="l">
              <a:defRPr sz="4050" b="1">
                <a:solidFill>
                  <a:srgbClr val="F5F7FA"/>
                </a:solidFill>
              </a:defRPr>
            </a:pPr>
            <a:r>
              <a:rPr sz="4050" b="1">
                <a:solidFill>
                  <a:srgbClr val="F5F7FA"/>
                </a:solidFill>
              </a:rPr>
              <a:t>a una entrega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5AC9862-73A1-4F4F-AA91-E5E624B7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6C7"/>
                </a:solidFill>
              </a:defRPr>
            </a:pPr>
            <a:r>
              <a:rPr sz="1950" b="0">
                <a:solidFill>
                  <a:srgbClr val="AAB6C7"/>
                </a:solidFill>
              </a:rPr>
              <a:t>Plataforma logística de última milla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DCB68AF3-E759-414B-9D94-D78DD196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95825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AE910802-4768-4B49-9A48-9D34A29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676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Reglas del negocio protegidas.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Infraestructura detrás de contratos.</a:t>
            </a:r>
          </a:p>
        </p:txBody>
      </p:sp>
      <p:sp>
        <p:nvSpPr>
          <p:cNvPr id="7" name="cover-index">
            <a:extLst xmlns:a="http://schemas.openxmlformats.org/drawingml/2006/main">
              <a:ext uri="{FF2B5EF4-FFF2-40B4-BE49-F238E27FC236}">
                <a16:creationId xmlns:a16="http://schemas.microsoft.com/office/drawing/2014/main" id="{7E3A20BC-A3AD-4C43-B079-5FE5D5DC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150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DDD     ·     BDD     ·     ARQUITECTURA LIMPIA</a:t>
            </a:r>
          </a:p>
        </p:txBody>
      </p:sp>
    </p:spTree>
    <p:extLst>
      <p:ext uri="{BB962C8B-B14F-4D97-AF65-F5344CB8AC3E}">
        <p14:creationId xmlns:p14="http://schemas.microsoft.com/office/powerpoint/2010/main" val="2132142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C3561E83-5237-42DE-AC6A-6F01ABBC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FLUJO DE NEGOCIO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899F3A-F782-4F7A-82A0-88896DDF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Asignación de repartidor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37ADC35F-3CA1-4A95-9B88-E01F2B0A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61BB7F-3C8D-4456-BD8B-AB4FD2DE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02</a:t>
            </a:r>
          </a:p>
        </p:txBody>
      </p:sp>
      <p:sp>
        <p:nvSpPr>
          <p:cNvPr id="5" name="purpose">
            <a:extLst xmlns:a="http://schemas.openxmlformats.org/drawingml/2006/main">
              <a:ext uri="{FF2B5EF4-FFF2-40B4-BE49-F238E27FC236}">
                <a16:creationId xmlns:a16="http://schemas.microsoft.com/office/drawing/2014/main" id="{DB606A47-D42F-4CC1-B2A1-A319E004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AB6C7"/>
                </a:solidFill>
              </a:defRPr>
            </a:pPr>
            <a:r>
              <a:rPr sz="1875" b="0">
                <a:solidFill>
                  <a:srgbClr val="AAB6C7"/>
                </a:solidFill>
              </a:rPr>
              <a:t>Asociar una entrega pendiente con un repartidor elegible, sin duplicar asignaciones ni exceder la capacidad de ruta.</a:t>
            </a:r>
          </a:p>
        </p:txBody>
      </p:sp>
      <p:sp>
        <p:nvSpPr>
          <p:cNvPr id="6" name="step-0-num">
            <a:extLst xmlns:a="http://schemas.openxmlformats.org/drawingml/2006/main">
              <a:ext uri="{FF2B5EF4-FFF2-40B4-BE49-F238E27FC236}">
                <a16:creationId xmlns:a16="http://schemas.microsoft.com/office/drawing/2014/main" id="{3F10D886-A509-441D-A807-CAA16BCE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01</a:t>
            </a:r>
          </a:p>
        </p:txBody>
      </p:sp>
      <p:sp>
        <p:nvSpPr>
          <p:cNvPr id="7" name="step-0-head">
            <a:extLst xmlns:a="http://schemas.openxmlformats.org/drawingml/2006/main">
              <a:ext uri="{FF2B5EF4-FFF2-40B4-BE49-F238E27FC236}">
                <a16:creationId xmlns:a16="http://schemas.microsoft.com/office/drawing/2014/main" id="{F18715DD-5A54-4233-95F1-3DE4E5F0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ENTREGA</a:t>
            </a:r>
          </a:p>
        </p:txBody>
      </p:sp>
      <p:sp>
        <p:nvSpPr>
          <p:cNvPr id="8" name="step-0-sub">
            <a:extLst xmlns:a="http://schemas.openxmlformats.org/drawingml/2006/main">
              <a:ext uri="{FF2B5EF4-FFF2-40B4-BE49-F238E27FC236}">
                <a16:creationId xmlns:a16="http://schemas.microsoft.com/office/drawing/2014/main" id="{70E5C1F1-A717-4559-BAE1-9BEFF86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Pendiente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0FF16910-2226-4662-8071-41A10D54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194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1-num">
            <a:extLst xmlns:a="http://schemas.openxmlformats.org/drawingml/2006/main">
              <a:ext uri="{FF2B5EF4-FFF2-40B4-BE49-F238E27FC236}">
                <a16:creationId xmlns:a16="http://schemas.microsoft.com/office/drawing/2014/main" id="{F21BA27D-E7BC-4867-B199-D62D2C5F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02</a:t>
            </a:r>
          </a:p>
        </p:txBody>
      </p:sp>
      <p:sp>
        <p:nvSpPr>
          <p:cNvPr id="11" name="step-1-head">
            <a:extLst xmlns:a="http://schemas.openxmlformats.org/drawingml/2006/main">
              <a:ext uri="{FF2B5EF4-FFF2-40B4-BE49-F238E27FC236}">
                <a16:creationId xmlns:a16="http://schemas.microsoft.com/office/drawing/2014/main" id="{7E91E5E8-FDF6-472B-A170-5DADFA1C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05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ELEGIBILIDAD</a:t>
            </a:r>
          </a:p>
        </p:txBody>
      </p:sp>
      <p:sp>
        <p:nvSpPr>
          <p:cNvPr id="12" name="step-1-sub">
            <a:extLst xmlns:a="http://schemas.openxmlformats.org/drawingml/2006/main">
              <a:ext uri="{FF2B5EF4-FFF2-40B4-BE49-F238E27FC236}">
                <a16:creationId xmlns:a16="http://schemas.microsoft.com/office/drawing/2014/main" id="{E00A9294-A646-4E15-BC17-21D446E3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4332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Repartidor + ruta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A4D63C5A-A26C-4B8C-9544-DE4913AC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194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2-num">
            <a:extLst xmlns:a="http://schemas.openxmlformats.org/drawingml/2006/main">
              <a:ext uri="{FF2B5EF4-FFF2-40B4-BE49-F238E27FC236}">
                <a16:creationId xmlns:a16="http://schemas.microsoft.com/office/drawing/2014/main" id="{A69E8285-674C-4525-A316-F289342C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03</a:t>
            </a:r>
          </a:p>
        </p:txBody>
      </p:sp>
      <p:sp>
        <p:nvSpPr>
          <p:cNvPr id="15" name="step-2-head">
            <a:extLst xmlns:a="http://schemas.openxmlformats.org/drawingml/2006/main">
              <a:ext uri="{FF2B5EF4-FFF2-40B4-BE49-F238E27FC236}">
                <a16:creationId xmlns:a16="http://schemas.microsoft.com/office/drawing/2014/main" id="{082D231A-1942-4456-8CEC-60888F62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05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ASIGNACIÓN</a:t>
            </a:r>
          </a:p>
        </p:txBody>
      </p:sp>
      <p:sp>
        <p:nvSpPr>
          <p:cNvPr id="16" name="step-2-sub">
            <a:extLst xmlns:a="http://schemas.openxmlformats.org/drawingml/2006/main">
              <a:ext uri="{FF2B5EF4-FFF2-40B4-BE49-F238E27FC236}">
                <a16:creationId xmlns:a16="http://schemas.microsoft.com/office/drawing/2014/main" id="{C9BAE688-C23A-4F8A-9A47-E7FF5726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4332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Invariante protegida</a:t>
            </a:r>
          </a:p>
        </p:txBody>
      </p:sp>
      <p:sp>
        <p:nvSpPr>
          <p:cNvPr id="17" name="divider">
            <a:extLst xmlns:a="http://schemas.openxmlformats.org/drawingml/2006/main">
              <a:ext uri="{FF2B5EF4-FFF2-40B4-BE49-F238E27FC236}">
                <a16:creationId xmlns:a16="http://schemas.microsoft.com/office/drawing/2014/main" id="{580AEA21-0330-4754-BB46-5A2C952C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194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3-num">
            <a:extLst xmlns:a="http://schemas.openxmlformats.org/drawingml/2006/main">
              <a:ext uri="{FF2B5EF4-FFF2-40B4-BE49-F238E27FC236}">
                <a16:creationId xmlns:a16="http://schemas.microsoft.com/office/drawing/2014/main" id="{CF294A0C-E2E6-4BCB-BDF1-CC86DF6A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04</a:t>
            </a:r>
          </a:p>
        </p:txBody>
      </p:sp>
      <p:sp>
        <p:nvSpPr>
          <p:cNvPr id="19" name="step-3-head">
            <a:extLst xmlns:a="http://schemas.openxmlformats.org/drawingml/2006/main">
              <a:ext uri="{FF2B5EF4-FFF2-40B4-BE49-F238E27FC236}">
                <a16:creationId xmlns:a16="http://schemas.microsoft.com/office/drawing/2014/main" id="{C4A94BB4-FD25-4410-AC12-6F3C0BFD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05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TRAZABILIDAD</a:t>
            </a:r>
          </a:p>
        </p:txBody>
      </p:sp>
      <p:sp>
        <p:nvSpPr>
          <p:cNvPr id="20" name="step-3-sub">
            <a:extLst xmlns:a="http://schemas.openxmlformats.org/drawingml/2006/main">
              <a:ext uri="{FF2B5EF4-FFF2-40B4-BE49-F238E27FC236}">
                <a16:creationId xmlns:a16="http://schemas.microsoft.com/office/drawing/2014/main" id="{220AE1A6-83B1-4259-B2FB-25B5C7B5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4332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Evento registrado</a:t>
            </a:r>
          </a:p>
        </p:txBody>
      </p:sp>
      <p:sp>
        <p:nvSpPr>
          <p:cNvPr id="21" name="divider">
            <a:extLst xmlns:a="http://schemas.openxmlformats.org/drawingml/2006/main">
              <a:ext uri="{FF2B5EF4-FFF2-40B4-BE49-F238E27FC236}">
                <a16:creationId xmlns:a16="http://schemas.microsoft.com/office/drawing/2014/main" id="{E6A398B3-4259-41EC-9EFA-E1ED8860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ctors">
            <a:extLst xmlns:a="http://schemas.openxmlformats.org/drawingml/2006/main">
              <a:ext uri="{FF2B5EF4-FFF2-40B4-BE49-F238E27FC236}">
                <a16:creationId xmlns:a16="http://schemas.microsoft.com/office/drawing/2014/main" id="{8DCA0A88-B142-4A0E-8969-D15950E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5F467"/>
                </a:solidFill>
              </a:defRPr>
            </a:pPr>
            <a:r>
              <a:rPr sz="1125" b="1">
                <a:solidFill>
                  <a:srgbClr val="C5F467"/>
                </a:solidFill>
              </a:rPr>
              <a:t>ACTORES</a:t>
            </a:r>
          </a:p>
        </p:txBody>
      </p:sp>
      <p:sp>
        <p:nvSpPr>
          <p:cNvPr id="23" name="actor-list">
            <a:extLst xmlns:a="http://schemas.openxmlformats.org/drawingml/2006/main">
              <a:ext uri="{FF2B5EF4-FFF2-40B4-BE49-F238E27FC236}">
                <a16:creationId xmlns:a16="http://schemas.microsoft.com/office/drawing/2014/main" id="{2A9ECC0F-8A11-4022-AA54-E73A18D8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Operador logístico  ·  Despacho automático  ·  Gestión de entregas  ·  Repartidor</a:t>
            </a:r>
          </a:p>
        </p:txBody>
      </p:sp>
    </p:spTree>
    <p:extLst>
      <p:ext uri="{BB962C8B-B14F-4D97-AF65-F5344CB8AC3E}">
        <p14:creationId xmlns:p14="http://schemas.microsoft.com/office/powerpoint/2010/main" val="211866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6B9BEA93-7C35-47B0-9D42-33D83DD3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DOMINIO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17DF1C-7863-4EC7-A95E-0E38B62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Lenguaje ubicuo y límites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9FAEF906-BC14-4FFD-81E1-0288A0B6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721BAB-9814-48C1-AFD3-86CE2838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03</a:t>
            </a:r>
          </a:p>
        </p:txBody>
      </p:sp>
      <p:sp>
        <p:nvSpPr>
          <p:cNvPr id="5" name="term-0">
            <a:extLst xmlns:a="http://schemas.openxmlformats.org/drawingml/2006/main">
              <a:ext uri="{FF2B5EF4-FFF2-40B4-BE49-F238E27FC236}">
                <a16:creationId xmlns:a16="http://schemas.microsoft.com/office/drawing/2014/main" id="{55693620-837D-47D7-976D-5CF80B4C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5F467"/>
                </a:solidFill>
              </a:defRPr>
            </a:pPr>
            <a:r>
              <a:rPr sz="1575" b="1">
                <a:solidFill>
                  <a:srgbClr val="C5F467"/>
                </a:solidFill>
              </a:rPr>
              <a:t>Delivery</a:t>
            </a:r>
          </a:p>
        </p:txBody>
      </p:sp>
      <p:sp>
        <p:nvSpPr>
          <p:cNvPr id="6" name="definition-0">
            <a:extLst xmlns:a="http://schemas.openxmlformats.org/drawingml/2006/main">
              <a:ext uri="{FF2B5EF4-FFF2-40B4-BE49-F238E27FC236}">
                <a16:creationId xmlns:a16="http://schemas.microsoft.com/office/drawing/2014/main" id="{B69DF3BA-ABCD-4E3D-8394-E2790359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621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Entrega logística con identidad y ciclo de vida propios.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63821C5E-BDB4-4FED-9204-9469E63E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rm-1">
            <a:extLst xmlns:a="http://schemas.openxmlformats.org/drawingml/2006/main">
              <a:ext uri="{FF2B5EF4-FFF2-40B4-BE49-F238E27FC236}">
                <a16:creationId xmlns:a16="http://schemas.microsoft.com/office/drawing/2014/main" id="{E04BAEC9-9EFB-4168-9975-E1D562B5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5F467"/>
                </a:solidFill>
              </a:defRPr>
            </a:pPr>
            <a:r>
              <a:rPr sz="1575" b="1">
                <a:solidFill>
                  <a:srgbClr val="C5F467"/>
                </a:solidFill>
              </a:rPr>
              <a:t>Courier</a:t>
            </a:r>
          </a:p>
        </p:txBody>
      </p:sp>
      <p:sp>
        <p:nvSpPr>
          <p:cNvPr id="9" name="definition-1">
            <a:extLst xmlns:a="http://schemas.openxmlformats.org/drawingml/2006/main">
              <a:ext uri="{FF2B5EF4-FFF2-40B4-BE49-F238E27FC236}">
                <a16:creationId xmlns:a16="http://schemas.microsoft.com/office/drawing/2014/main" id="{7F2AA07E-3A8C-4B47-B53D-8D90943F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98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Repartidor candidato cuya disponibilidad se consulta.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A2185E79-FEDC-4FCC-86C6-9F4D1D78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2">
            <a:extLst xmlns:a="http://schemas.openxmlformats.org/drawingml/2006/main">
              <a:ext uri="{FF2B5EF4-FFF2-40B4-BE49-F238E27FC236}">
                <a16:creationId xmlns:a16="http://schemas.microsoft.com/office/drawing/2014/main" id="{6CD94560-E182-4E8C-90C8-C9584937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5F467"/>
                </a:solidFill>
              </a:defRPr>
            </a:pPr>
            <a:r>
              <a:rPr sz="1575" b="1">
                <a:solidFill>
                  <a:srgbClr val="C5F467"/>
                </a:solidFill>
              </a:rPr>
              <a:t>Invariante</a:t>
            </a:r>
          </a:p>
        </p:txBody>
      </p:sp>
      <p:sp>
        <p:nvSpPr>
          <p:cNvPr id="12" name="definition-2">
            <a:extLst xmlns:a="http://schemas.openxmlformats.org/drawingml/2006/main">
              <a:ext uri="{FF2B5EF4-FFF2-40B4-BE49-F238E27FC236}">
                <a16:creationId xmlns:a16="http://schemas.microsoft.com/office/drawing/2014/main" id="{B6543B87-05FB-478E-BB2B-05AA1EB4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575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Regla que siempre protege la validez de la entrega.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38A0FE7C-C031-4D30-801A-7D43EDE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rm-3">
            <a:extLst xmlns:a="http://schemas.openxmlformats.org/drawingml/2006/main">
              <a:ext uri="{FF2B5EF4-FFF2-40B4-BE49-F238E27FC236}">
                <a16:creationId xmlns:a16="http://schemas.microsoft.com/office/drawing/2014/main" id="{CECDE5A4-A94A-4851-87AC-0A818743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5F467"/>
                </a:solidFill>
              </a:defRPr>
            </a:pPr>
            <a:r>
              <a:rPr sz="1575" b="1">
                <a:solidFill>
                  <a:srgbClr val="C5F467"/>
                </a:solidFill>
              </a:rPr>
              <a:t>Puerto / adaptador</a:t>
            </a:r>
          </a:p>
        </p:txBody>
      </p:sp>
      <p:sp>
        <p:nvSpPr>
          <p:cNvPr id="15" name="definition-3">
            <a:extLst xmlns:a="http://schemas.openxmlformats.org/drawingml/2006/main">
              <a:ext uri="{FF2B5EF4-FFF2-40B4-BE49-F238E27FC236}">
                <a16:creationId xmlns:a16="http://schemas.microsoft.com/office/drawing/2014/main" id="{B3B45443-C415-4A3A-A4E2-1E3E2E70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053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Contrato requerido / implementación tecnológica.</a:t>
            </a:r>
          </a:p>
        </p:txBody>
      </p:sp>
      <p:sp>
        <p:nvSpPr>
          <p:cNvPr id="16" name="context-line">
            <a:extLst xmlns:a="http://schemas.openxmlformats.org/drawingml/2006/main">
              <a:ext uri="{FF2B5EF4-FFF2-40B4-BE49-F238E27FC236}">
                <a16:creationId xmlns:a16="http://schemas.microsoft.com/office/drawing/2014/main" id="{B5C3A59F-5003-4022-BB85-5D794095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Despacho coordina. Gestión de entregas es dueña de Delivery. Repartidores informa disponibilidad. Rutas valida capacidad y recibe DeliveryAssigned.</a:t>
            </a:r>
          </a:p>
        </p:txBody>
      </p:sp>
    </p:spTree>
    <p:extLst>
      <p:ext uri="{BB962C8B-B14F-4D97-AF65-F5344CB8AC3E}">
        <p14:creationId xmlns:p14="http://schemas.microsoft.com/office/powerpoint/2010/main" val="1050304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8216FB71-555A-429D-99DE-D263FD79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ENTIDAD Y OBJETOS DE VALOR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38095E-7006-4B6A-8497-05C6E924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Modelo de dominio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27105FC9-23B3-42EB-B4AE-FFE26D78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AABD5F-B97A-4415-A3A5-0DE736C1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04</a:t>
            </a:r>
          </a:p>
        </p:txBody>
      </p:sp>
      <p:sp>
        <p:nvSpPr>
          <p:cNvPr id="5" name="entity-kicker">
            <a:extLst xmlns:a="http://schemas.openxmlformats.org/drawingml/2006/main">
              <a:ext uri="{FF2B5EF4-FFF2-40B4-BE49-F238E27FC236}">
                <a16:creationId xmlns:a16="http://schemas.microsoft.com/office/drawing/2014/main" id="{2FB2C3D5-2D08-4BC2-ACDB-2B771D77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5F467"/>
                </a:solidFill>
              </a:defRPr>
            </a:pPr>
            <a:r>
              <a:rPr sz="1125" b="1">
                <a:solidFill>
                  <a:srgbClr val="C5F467"/>
                </a:solidFill>
              </a:rPr>
              <a:t>RAÍZ DE AGREGADO</a:t>
            </a:r>
          </a:p>
        </p:txBody>
      </p:sp>
      <p:sp>
        <p:nvSpPr>
          <p:cNvPr id="6" name="entity-name">
            <a:extLst xmlns:a="http://schemas.openxmlformats.org/drawingml/2006/main">
              <a:ext uri="{FF2B5EF4-FFF2-40B4-BE49-F238E27FC236}">
                <a16:creationId xmlns:a16="http://schemas.microsoft.com/office/drawing/2014/main" id="{4C185043-D707-4CE3-8FC2-E269DDBF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5F7FA"/>
                </a:solidFill>
              </a:defRPr>
            </a:pPr>
            <a:r>
              <a:rPr sz="3300" b="1">
                <a:solidFill>
                  <a:srgbClr val="F5F7FA"/>
                </a:solidFill>
              </a:rPr>
              <a:t>Delivery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886AEC7F-F3AA-4600-9132-81930528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428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ntity-fields">
            <a:extLst xmlns:a="http://schemas.openxmlformats.org/drawingml/2006/main">
              <a:ext uri="{FF2B5EF4-FFF2-40B4-BE49-F238E27FC236}">
                <a16:creationId xmlns:a16="http://schemas.microsoft.com/office/drawing/2014/main" id="{D49FD45A-D0EA-44F5-A5D4-7B12038E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14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5F7FA"/>
                </a:solidFill>
              </a:defRPr>
            </a:pPr>
            <a:r>
              <a:rPr sz="1800" b="0">
                <a:solidFill>
                  <a:srgbClr val="F5F7FA"/>
                </a:solidFill>
              </a:rPr>
              <a:t>Id: DeliveryId</a:t>
            </a:r>
          </a:p>
          <a:p xmlns:a="http://schemas.openxmlformats.org/drawingml/2006/main">
            <a:pPr algn="l">
              <a:defRPr sz="1800" b="0">
                <a:solidFill>
                  <a:srgbClr val="F5F7FA"/>
                </a:solidFill>
              </a:defRPr>
            </a:pPr>
            <a:r>
              <a:rPr sz="1800" b="0">
                <a:solidFill>
                  <a:srgbClr val="F5F7FA"/>
                </a:solidFill>
              </a:rPr>
              <a:t>Address: DeliveryAddress</a:t>
            </a:r>
          </a:p>
          <a:p xmlns:a="http://schemas.openxmlformats.org/drawingml/2006/main">
            <a:pPr algn="l">
              <a:defRPr sz="1800" b="0">
                <a:solidFill>
                  <a:srgbClr val="F5F7FA"/>
                </a:solidFill>
              </a:defRPr>
            </a:pPr>
            <a:r>
              <a:rPr sz="1800" b="0">
                <a:solidFill>
                  <a:srgbClr val="F5F7FA"/>
                </a:solidFill>
              </a:rPr>
              <a:t>CourierId: CourierId?</a:t>
            </a:r>
          </a:p>
          <a:p xmlns:a="http://schemas.openxmlformats.org/drawingml/2006/main">
            <a:pPr algn="l">
              <a:defRPr sz="1800" b="0">
                <a:solidFill>
                  <a:srgbClr val="F5F7FA"/>
                </a:solidFill>
              </a:defRPr>
            </a:pPr>
            <a:r>
              <a:rPr sz="1800" b="0">
                <a:solidFill>
                  <a:srgbClr val="F5F7FA"/>
                </a:solidFill>
              </a:rPr>
              <a:t>Status: DeliveryStatus</a:t>
            </a:r>
          </a:p>
        </p:txBody>
      </p:sp>
      <p:sp>
        <p:nvSpPr>
          <p:cNvPr id="9" name="behavior-label">
            <a:extLst xmlns:a="http://schemas.openxmlformats.org/drawingml/2006/main">
              <a:ext uri="{FF2B5EF4-FFF2-40B4-BE49-F238E27FC236}">
                <a16:creationId xmlns:a16="http://schemas.microsoft.com/office/drawing/2014/main" id="{C9520B99-2E2A-4476-A261-63CF0F3E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9D3D0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9D3D0"/>
                </a:solidFill>
              </a:defRPr>
            </a:pPr>
            <a:r>
              <a:rPr sz="1125" b="1">
                <a:solidFill>
                  <a:srgbClr val="69D3D0"/>
                </a:solidFill>
              </a:rPr>
              <a:t>COMPORTAMIENTO</a:t>
            </a:r>
          </a:p>
        </p:txBody>
      </p:sp>
      <p:sp>
        <p:nvSpPr>
          <p:cNvPr id="10" name="behavior-title">
            <a:extLst xmlns:a="http://schemas.openxmlformats.org/drawingml/2006/main">
              <a:ext uri="{FF2B5EF4-FFF2-40B4-BE49-F238E27FC236}">
                <a16:creationId xmlns:a16="http://schemas.microsoft.com/office/drawing/2014/main" id="{CC88C6F9-F1D0-4587-B4FB-2BCADABD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9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F7FA"/>
                </a:solidFill>
              </a:defRPr>
            </a:pPr>
            <a:r>
              <a:rPr sz="2100" b="1">
                <a:solidFill>
                  <a:srgbClr val="F5F7FA"/>
                </a:solidFill>
              </a:rPr>
              <a:t>AssignCourier(courierId)</a:t>
            </a:r>
          </a:p>
        </p:txBody>
      </p:sp>
      <p:sp>
        <p:nvSpPr>
          <p:cNvPr id="11" name="behavior-copy">
            <a:extLst xmlns:a="http://schemas.openxmlformats.org/drawingml/2006/main">
              <a:ext uri="{FF2B5EF4-FFF2-40B4-BE49-F238E27FC236}">
                <a16:creationId xmlns:a16="http://schemas.microsoft.com/office/drawing/2014/main" id="{C9CFB950-09BE-4C4F-9161-63B6ABCB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AB6C7"/>
                </a:solidFill>
              </a:defRPr>
            </a:pPr>
            <a:r>
              <a:rPr sz="1500" b="0">
                <a:solidFill>
                  <a:srgbClr val="AAB6C7"/>
                </a:solidFill>
              </a:rPr>
              <a:t>Rechaza si ya existe una asignación activa.</a:t>
            </a:r>
          </a:p>
          <a:p xmlns:a="http://schemas.openxmlformats.org/drawingml/2006/main">
            <a:pPr algn="l">
              <a:defRPr sz="1500" b="0">
                <a:solidFill>
                  <a:srgbClr val="AAB6C7"/>
                </a:solidFill>
              </a:defRPr>
            </a:pPr>
            <a:r>
              <a:rPr sz="1500" b="0">
                <a:solidFill>
                  <a:srgbClr val="AAB6C7"/>
                </a:solidFill>
              </a:rPr>
              <a:t>Si se acepta, guarda el repartidor y cambia el estado.</a:t>
            </a:r>
          </a:p>
        </p:txBody>
      </p:sp>
      <p:sp>
        <p:nvSpPr>
          <p:cNvPr id="12" name="term-band">
            <a:extLst xmlns:a="http://schemas.openxmlformats.org/drawingml/2006/main">
              <a:ext uri="{FF2B5EF4-FFF2-40B4-BE49-F238E27FC236}">
                <a16:creationId xmlns:a16="http://schemas.microsoft.com/office/drawing/2014/main" id="{540C2C79-8739-4C3B-A587-FDDB5633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19575"/>
            <a:ext cx="4667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C2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rm">
            <a:extLst xmlns:a="http://schemas.openxmlformats.org/drawingml/2006/main">
              <a:ext uri="{FF2B5EF4-FFF2-40B4-BE49-F238E27FC236}">
                <a16:creationId xmlns:a16="http://schemas.microsoft.com/office/drawing/2014/main" id="{4D98B772-E3C0-44B1-947B-C418DC5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291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5F7FA"/>
                </a:solidFill>
              </a:defRPr>
            </a:pPr>
            <a:r>
              <a:rPr sz="1275" b="1">
                <a:solidFill>
                  <a:srgbClr val="F5F7FA"/>
                </a:solidFill>
              </a:rPr>
              <a:t>DeliveryId · DeliveryAddress · CourierId</a:t>
            </a:r>
          </a:p>
        </p:txBody>
      </p:sp>
      <p:sp>
        <p:nvSpPr>
          <p:cNvPr id="14" name="vo-note">
            <a:extLst xmlns:a="http://schemas.openxmlformats.org/drawingml/2006/main">
              <a:ext uri="{FF2B5EF4-FFF2-40B4-BE49-F238E27FC236}">
                <a16:creationId xmlns:a16="http://schemas.microsoft.com/office/drawing/2014/main" id="{9B1CA182-053A-4222-8B86-48D385DD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Objetos inmutables, comparados por valor.</a:t>
            </a:r>
          </a:p>
        </p:txBody>
      </p:sp>
    </p:spTree>
    <p:extLst>
      <p:ext uri="{BB962C8B-B14F-4D97-AF65-F5344CB8AC3E}">
        <p14:creationId xmlns:p14="http://schemas.microsoft.com/office/powerpoint/2010/main" val="1696070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502E99F4-E3C4-496F-87DD-E2612A0C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REGLAS DE NEGOCIO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437B5B-452B-46A2-BE20-ED4E4D14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Invariantes y estados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66C0723C-F73A-4F28-8EB2-29AE76B4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3815E6-ACE6-4D11-8E75-B9EBB17D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05</a:t>
            </a:r>
          </a:p>
        </p:txBody>
      </p:sp>
      <p:sp>
        <p:nvSpPr>
          <p:cNvPr id="5" name="invariant-heading">
            <a:extLst xmlns:a="http://schemas.openxmlformats.org/drawingml/2006/main">
              <a:ext uri="{FF2B5EF4-FFF2-40B4-BE49-F238E27FC236}">
                <a16:creationId xmlns:a16="http://schemas.microsoft.com/office/drawing/2014/main" id="{25B5A830-D05D-462D-89C6-BEED217D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La asignación solo se confirma si todas las condiciones se cumplen.</a:t>
            </a:r>
          </a:p>
        </p:txBody>
      </p:sp>
      <p:sp>
        <p:nvSpPr>
          <p:cNvPr id="6" name="rule-no-0">
            <a:extLst xmlns:a="http://schemas.openxmlformats.org/drawingml/2006/main">
              <a:ext uri="{FF2B5EF4-FFF2-40B4-BE49-F238E27FC236}">
                <a16:creationId xmlns:a16="http://schemas.microsoft.com/office/drawing/2014/main" id="{C8978AFA-B8EF-40BD-9796-22487D47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5F467"/>
                </a:solidFill>
              </a:defRPr>
            </a:pPr>
            <a:r>
              <a:rPr sz="1425" b="1">
                <a:solidFill>
                  <a:srgbClr val="C5F467"/>
                </a:solidFill>
              </a:rPr>
              <a:t>01</a:t>
            </a:r>
          </a:p>
        </p:txBody>
      </p:sp>
      <p:sp>
        <p:nvSpPr>
          <p:cNvPr id="7" name="rule-0">
            <a:extLst xmlns:a="http://schemas.openxmlformats.org/drawingml/2006/main">
              <a:ext uri="{FF2B5EF4-FFF2-40B4-BE49-F238E27FC236}">
                <a16:creationId xmlns:a16="http://schemas.microsoft.com/office/drawing/2014/main" id="{FEA37D41-BEEE-4050-9E75-176F793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Sin repartidor activo previo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6ED39609-CADC-4B91-84EF-66695A02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le-no-1">
            <a:extLst xmlns:a="http://schemas.openxmlformats.org/drawingml/2006/main">
              <a:ext uri="{FF2B5EF4-FFF2-40B4-BE49-F238E27FC236}">
                <a16:creationId xmlns:a16="http://schemas.microsoft.com/office/drawing/2014/main" id="{E20B9142-232F-4536-885E-63BD13C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5F467"/>
                </a:solidFill>
              </a:defRPr>
            </a:pPr>
            <a:r>
              <a:rPr sz="1425" b="1">
                <a:solidFill>
                  <a:srgbClr val="C5F467"/>
                </a:solidFill>
              </a:rPr>
              <a:t>02</a:t>
            </a:r>
          </a:p>
        </p:txBody>
      </p:sp>
      <p:sp>
        <p:nvSpPr>
          <p:cNvPr id="10" name="rule-1">
            <a:extLst xmlns:a="http://schemas.openxmlformats.org/drawingml/2006/main">
              <a:ext uri="{FF2B5EF4-FFF2-40B4-BE49-F238E27FC236}">
                <a16:creationId xmlns:a16="http://schemas.microsoft.com/office/drawing/2014/main" id="{A52029E7-ED1A-46FE-A351-7FC71815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Repartidor disponible</a:t>
            </a:r>
          </a:p>
        </p:txBody>
      </p:sp>
      <p:sp>
        <p:nvSpPr>
          <p:cNvPr id="11" name="divider">
            <a:extLst xmlns:a="http://schemas.openxmlformats.org/drawingml/2006/main">
              <a:ext uri="{FF2B5EF4-FFF2-40B4-BE49-F238E27FC236}">
                <a16:creationId xmlns:a16="http://schemas.microsoft.com/office/drawing/2014/main" id="{C7EB7223-F882-44DF-A900-A7DF8457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no-2">
            <a:extLst xmlns:a="http://schemas.openxmlformats.org/drawingml/2006/main">
              <a:ext uri="{FF2B5EF4-FFF2-40B4-BE49-F238E27FC236}">
                <a16:creationId xmlns:a16="http://schemas.microsoft.com/office/drawing/2014/main" id="{BE6D2B81-228B-41CE-A686-802C7CBC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5F467"/>
                </a:solidFill>
              </a:defRPr>
            </a:pPr>
            <a:r>
              <a:rPr sz="1425" b="1">
                <a:solidFill>
                  <a:srgbClr val="C5F467"/>
                </a:solidFill>
              </a:rPr>
              <a:t>03</a:t>
            </a:r>
          </a:p>
        </p:txBody>
      </p:sp>
      <p:sp>
        <p:nvSpPr>
          <p:cNvPr id="13" name="rule-2">
            <a:extLst xmlns:a="http://schemas.openxmlformats.org/drawingml/2006/main">
              <a:ext uri="{FF2B5EF4-FFF2-40B4-BE49-F238E27FC236}">
                <a16:creationId xmlns:a16="http://schemas.microsoft.com/office/drawing/2014/main" id="{235492B9-74FE-4891-A2E3-673A33D4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Ruta con capacidad</a:t>
            </a:r>
          </a:p>
        </p:txBody>
      </p:sp>
      <p:sp>
        <p:nvSpPr>
          <p:cNvPr id="14" name="divider">
            <a:extLst xmlns:a="http://schemas.openxmlformats.org/drawingml/2006/main">
              <a:ext uri="{FF2B5EF4-FFF2-40B4-BE49-F238E27FC236}">
                <a16:creationId xmlns:a16="http://schemas.microsoft.com/office/drawing/2014/main" id="{C1EB51A6-79CE-46C0-893A-07C849AB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no-3">
            <a:extLst xmlns:a="http://schemas.openxmlformats.org/drawingml/2006/main">
              <a:ext uri="{FF2B5EF4-FFF2-40B4-BE49-F238E27FC236}">
                <a16:creationId xmlns:a16="http://schemas.microsoft.com/office/drawing/2014/main" id="{2378F09E-B3DA-4DE9-9C9E-AE31143C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5F467"/>
                </a:solidFill>
              </a:defRPr>
            </a:pPr>
            <a:r>
              <a:rPr sz="1425" b="1">
                <a:solidFill>
                  <a:srgbClr val="C5F467"/>
                </a:solidFill>
              </a:rPr>
              <a:t>04</a:t>
            </a:r>
          </a:p>
        </p:txBody>
      </p:sp>
      <p:sp>
        <p:nvSpPr>
          <p:cNvPr id="16" name="rule-3">
            <a:extLst xmlns:a="http://schemas.openxmlformats.org/drawingml/2006/main">
              <a:ext uri="{FF2B5EF4-FFF2-40B4-BE49-F238E27FC236}">
                <a16:creationId xmlns:a16="http://schemas.microsoft.com/office/drawing/2014/main" id="{9A1B46D5-EB44-4891-AC2A-A2099895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Persistencia y evento coherentes</a:t>
            </a:r>
          </a:p>
        </p:txBody>
      </p:sp>
      <p:sp>
        <p:nvSpPr>
          <p:cNvPr id="17" name="pending-state">
            <a:extLst xmlns:a="http://schemas.openxmlformats.org/drawingml/2006/main">
              <a:ext uri="{FF2B5EF4-FFF2-40B4-BE49-F238E27FC236}">
                <a16:creationId xmlns:a16="http://schemas.microsoft.com/office/drawing/2014/main" id="{B7087CF6-3984-44AC-B35D-115FFCB5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C2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ending-label">
            <a:extLst xmlns:a="http://schemas.openxmlformats.org/drawingml/2006/main">
              <a:ext uri="{FF2B5EF4-FFF2-40B4-BE49-F238E27FC236}">
                <a16:creationId xmlns:a16="http://schemas.microsoft.com/office/drawing/2014/main" id="{62861C0A-AE0D-4852-85E7-DF391A70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860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Pending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64015C2F-5A1A-42A8-98BE-2859C42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670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ssigned-state">
            <a:extLst xmlns:a="http://schemas.openxmlformats.org/drawingml/2006/main">
              <a:ext uri="{FF2B5EF4-FFF2-40B4-BE49-F238E27FC236}">
                <a16:creationId xmlns:a16="http://schemas.microsoft.com/office/drawing/2014/main" id="{7E7D8F66-D8CF-4164-B570-57C6B17A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81300"/>
            <a:ext cx="14763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ssigned-label">
            <a:extLst xmlns:a="http://schemas.openxmlformats.org/drawingml/2006/main">
              <a:ext uri="{FF2B5EF4-FFF2-40B4-BE49-F238E27FC236}">
                <a16:creationId xmlns:a16="http://schemas.microsoft.com/office/drawing/2014/main" id="{E7DC5452-9558-4531-B90D-69A70BC9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8607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B122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Assigned</a:t>
            </a:r>
          </a:p>
        </p:txBody>
      </p:sp>
      <p:sp>
        <p:nvSpPr>
          <p:cNvPr id="22" name="transition-caption">
            <a:extLst xmlns:a="http://schemas.openxmlformats.org/drawingml/2006/main">
              <a:ext uri="{FF2B5EF4-FFF2-40B4-BE49-F238E27FC236}">
                <a16:creationId xmlns:a16="http://schemas.microsoft.com/office/drawing/2014/main" id="{5FFF8CF4-CB1A-4F77-BA6C-EEAAF5C7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05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AAB6C7"/>
                </a:solidFill>
              </a:defRPr>
            </a:pPr>
            <a:r>
              <a:rPr sz="1200" b="0">
                <a:solidFill>
                  <a:srgbClr val="AAB6C7"/>
                </a:solidFill>
              </a:rPr>
              <a:t>Elegible + ruta disponible</a:t>
            </a:r>
          </a:p>
        </p:txBody>
      </p:sp>
      <p:sp>
        <p:nvSpPr>
          <p:cNvPr id="23" name="blocked-caption">
            <a:extLst xmlns:a="http://schemas.openxmlformats.org/drawingml/2006/main">
              <a:ext uri="{FF2B5EF4-FFF2-40B4-BE49-F238E27FC236}">
                <a16:creationId xmlns:a16="http://schemas.microsoft.com/office/drawing/2014/main" id="{D9027764-FADD-4D00-8239-9DDFC833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8B7B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8B7B"/>
                </a:solidFill>
              </a:defRPr>
            </a:pPr>
            <a:r>
              <a:rPr sz="1350" b="1">
                <a:solidFill>
                  <a:srgbClr val="FF8B7B"/>
                </a:solidFill>
              </a:rPr>
              <a:t>Rechazo: Pending permanece igual</a:t>
            </a:r>
          </a:p>
        </p:txBody>
      </p:sp>
    </p:spTree>
    <p:extLst>
      <p:ext uri="{BB962C8B-B14F-4D97-AF65-F5344CB8AC3E}">
        <p14:creationId xmlns:p14="http://schemas.microsoft.com/office/powerpoint/2010/main" val="1977303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C409959-472A-4CBF-BB36-9148BF6A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BDD · DADO / CUANDO / ENTONCES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520455-5E36-4E02-888F-CEC3A42F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Escenarios de aceptación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022CD446-70D4-48A6-8209-5FF82F4F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7351CF-E5B6-46D4-A368-3469A83A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06</a:t>
            </a:r>
          </a:p>
        </p:txBody>
      </p:sp>
      <p:sp>
        <p:nvSpPr>
          <p:cNvPr id="5" name="success-tag">
            <a:extLst xmlns:a="http://schemas.openxmlformats.org/drawingml/2006/main">
              <a:ext uri="{FF2B5EF4-FFF2-40B4-BE49-F238E27FC236}">
                <a16:creationId xmlns:a16="http://schemas.microsoft.com/office/drawing/2014/main" id="{BBEEC296-1448-49E6-BF1E-9BBF026E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5F467"/>
                </a:solidFill>
              </a:defRPr>
            </a:pPr>
            <a:r>
              <a:rPr sz="1125" b="1">
                <a:solidFill>
                  <a:srgbClr val="C5F467"/>
                </a:solidFill>
              </a:rPr>
              <a:t>ASIGNACIÓN EXITOSA</a:t>
            </a:r>
          </a:p>
        </p:txBody>
      </p:sp>
      <p:sp>
        <p:nvSpPr>
          <p:cNvPr id="6" name="success-flow">
            <a:extLst xmlns:a="http://schemas.openxmlformats.org/drawingml/2006/main">
              <a:ext uri="{FF2B5EF4-FFF2-40B4-BE49-F238E27FC236}">
                <a16:creationId xmlns:a16="http://schemas.microsoft.com/office/drawing/2014/main" id="{0DC2047B-DBA9-4E54-8BC8-8A3678C3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66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Dado una entrega pendiente sin repartidor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Y un repartidor disponible y una ruta con capacidad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Cuando se ejecuta AssignCourierUseCase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Entonces queda asignada y cambia a Assigned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Y se registra DeliveryAssigned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97D60A85-21A6-4681-969B-E6FF795D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jection-tag">
            <a:extLst xmlns:a="http://schemas.openxmlformats.org/drawingml/2006/main">
              <a:ext uri="{FF2B5EF4-FFF2-40B4-BE49-F238E27FC236}">
                <a16:creationId xmlns:a16="http://schemas.microsoft.com/office/drawing/2014/main" id="{673DB051-2CB2-47A9-B50E-2636D8CB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9D3D0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9D3D0"/>
                </a:solidFill>
              </a:defRPr>
            </a:pPr>
            <a:r>
              <a:rPr sz="1125" b="1">
                <a:solidFill>
                  <a:srgbClr val="69D3D0"/>
                </a:solidFill>
              </a:rPr>
              <a:t>REGLA PROTEGIDA</a:t>
            </a:r>
          </a:p>
        </p:txBody>
      </p:sp>
      <p:sp>
        <p:nvSpPr>
          <p:cNvPr id="9" name="rejection-flow">
            <a:extLst xmlns:a="http://schemas.openxmlformats.org/drawingml/2006/main">
              <a:ext uri="{FF2B5EF4-FFF2-40B4-BE49-F238E27FC236}">
                <a16:creationId xmlns:a16="http://schemas.microsoft.com/office/drawing/2014/main" id="{8C0C45F2-7168-431D-983B-24011C1A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Si ya hay un repartidor activo,</a:t>
            </a:r>
          </a:p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la operación se rechaza.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La asignación original no cambia</a:t>
            </a:r>
          </a:p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y no se registra una nueva asignación.</a:t>
            </a:r>
          </a:p>
        </p:txBody>
      </p:sp>
      <p:sp>
        <p:nvSpPr>
          <p:cNvPr id="10" name="more-cases">
            <a:extLst xmlns:a="http://schemas.openxmlformats.org/drawingml/2006/main">
              <a:ext uri="{FF2B5EF4-FFF2-40B4-BE49-F238E27FC236}">
                <a16:creationId xmlns:a16="http://schemas.microsoft.com/office/drawing/2014/main" id="{5C6DA1C7-B37E-4DAF-A7CD-A2952A2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Otros rechazos: repartidor no disponible · ruta saturada</a:t>
            </a:r>
          </a:p>
        </p:txBody>
      </p:sp>
    </p:spTree>
    <p:extLst>
      <p:ext uri="{BB962C8B-B14F-4D97-AF65-F5344CB8AC3E}">
        <p14:creationId xmlns:p14="http://schemas.microsoft.com/office/powerpoint/2010/main" val="843643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">
            <a:extLst xmlns:a="http://schemas.openxmlformats.org/drawingml/2006/main">
              <a:ext uri="{FF2B5EF4-FFF2-40B4-BE49-F238E27FC236}">
                <a16:creationId xmlns:a16="http://schemas.microsoft.com/office/drawing/2014/main" id="{84810473-518D-4D65-A7A8-E77FCE06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COORDINACIÓN Y CONTRATOS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0D9759-9323-4250-9057-1321B1C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AssignCourierUseCase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1BC0CA67-7922-40C4-8C35-8DA7F815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EC7B6C-132B-49CC-91BC-E90138E1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07</a:t>
            </a:r>
          </a:p>
        </p:txBody>
      </p:sp>
      <p:sp>
        <p:nvSpPr>
          <p:cNvPr id="5" name="seq-n-0">
            <a:extLst xmlns:a="http://schemas.openxmlformats.org/drawingml/2006/main">
              <a:ext uri="{FF2B5EF4-FFF2-40B4-BE49-F238E27FC236}">
                <a16:creationId xmlns:a16="http://schemas.microsoft.com/office/drawing/2014/main" id="{207B96F5-07CC-4B5B-9122-7695FFC4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1</a:t>
            </a:r>
          </a:p>
        </p:txBody>
      </p:sp>
      <p:sp>
        <p:nvSpPr>
          <p:cNvPr id="6" name="seq-title-0">
            <a:extLst xmlns:a="http://schemas.openxmlformats.org/drawingml/2006/main">
              <a:ext uri="{FF2B5EF4-FFF2-40B4-BE49-F238E27FC236}">
                <a16:creationId xmlns:a16="http://schemas.microsoft.com/office/drawing/2014/main" id="{9E4696E0-4BA3-4A7D-A806-CE3DE8C9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192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Cargar entrega</a:t>
            </a:r>
          </a:p>
        </p:txBody>
      </p:sp>
      <p:sp>
        <p:nvSpPr>
          <p:cNvPr id="7" name="seq-port-0">
            <a:extLst xmlns:a="http://schemas.openxmlformats.org/drawingml/2006/main">
              <a:ext uri="{FF2B5EF4-FFF2-40B4-BE49-F238E27FC236}">
                <a16:creationId xmlns:a16="http://schemas.microsoft.com/office/drawing/2014/main" id="{4E774425-5726-4C71-B562-7AC68E31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288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IDeliveryRepository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064B7181-D0DB-4F70-888E-12CB3FC2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52725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q-n-1">
            <a:extLst xmlns:a="http://schemas.openxmlformats.org/drawingml/2006/main">
              <a:ext uri="{FF2B5EF4-FFF2-40B4-BE49-F238E27FC236}">
                <a16:creationId xmlns:a16="http://schemas.microsoft.com/office/drawing/2014/main" id="{188522A4-CBFC-46B2-84C0-21B51047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2</a:t>
            </a:r>
          </a:p>
        </p:txBody>
      </p:sp>
      <p:sp>
        <p:nvSpPr>
          <p:cNvPr id="10" name="seq-title-1">
            <a:extLst xmlns:a="http://schemas.openxmlformats.org/drawingml/2006/main">
              <a:ext uri="{FF2B5EF4-FFF2-40B4-BE49-F238E27FC236}">
                <a16:creationId xmlns:a16="http://schemas.microsoft.com/office/drawing/2014/main" id="{5AF0849A-55AA-48C6-A59E-11B02214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Validar repartidor</a:t>
            </a:r>
          </a:p>
        </p:txBody>
      </p:sp>
      <p:sp>
        <p:nvSpPr>
          <p:cNvPr id="11" name="seq-port-1">
            <a:extLst xmlns:a="http://schemas.openxmlformats.org/drawingml/2006/main">
              <a:ext uri="{FF2B5EF4-FFF2-40B4-BE49-F238E27FC236}">
                <a16:creationId xmlns:a16="http://schemas.microsoft.com/office/drawing/2014/main" id="{8DE9D077-BF8F-42A9-B2B2-F0A5ECD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ICourierAvailability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7EA6BE64-E711-4CBA-AF74-943BA8F0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q-n-2">
            <a:extLst xmlns:a="http://schemas.openxmlformats.org/drawingml/2006/main">
              <a:ext uri="{FF2B5EF4-FFF2-40B4-BE49-F238E27FC236}">
                <a16:creationId xmlns:a16="http://schemas.microsoft.com/office/drawing/2014/main" id="{A6F11424-31A4-4F44-A94C-E02D6E0A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3</a:t>
            </a:r>
          </a:p>
        </p:txBody>
      </p:sp>
      <p:sp>
        <p:nvSpPr>
          <p:cNvPr id="14" name="seq-title-2">
            <a:extLst xmlns:a="http://schemas.openxmlformats.org/drawingml/2006/main">
              <a:ext uri="{FF2B5EF4-FFF2-40B4-BE49-F238E27FC236}">
                <a16:creationId xmlns:a16="http://schemas.microsoft.com/office/drawing/2014/main" id="{F9B06D44-0491-4CEB-A65E-CD947AC8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672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Validar capacidad</a:t>
            </a:r>
          </a:p>
        </p:txBody>
      </p:sp>
      <p:sp>
        <p:nvSpPr>
          <p:cNvPr id="15" name="seq-port-2">
            <a:extLst xmlns:a="http://schemas.openxmlformats.org/drawingml/2006/main">
              <a:ext uri="{FF2B5EF4-FFF2-40B4-BE49-F238E27FC236}">
                <a16:creationId xmlns:a16="http://schemas.microsoft.com/office/drawing/2014/main" id="{5140B5CC-B412-400A-9C96-91646F99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IRouteCapacity</a:t>
            </a:r>
          </a:p>
        </p:txBody>
      </p:sp>
      <p:sp>
        <p:nvSpPr>
          <p:cNvPr id="16" name="seq-n-3">
            <a:extLst xmlns:a="http://schemas.openxmlformats.org/drawingml/2006/main">
              <a:ext uri="{FF2B5EF4-FFF2-40B4-BE49-F238E27FC236}">
                <a16:creationId xmlns:a16="http://schemas.microsoft.com/office/drawing/2014/main" id="{63A09849-D851-4CE6-881B-27AC7472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192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4</a:t>
            </a:r>
          </a:p>
        </p:txBody>
      </p:sp>
      <p:sp>
        <p:nvSpPr>
          <p:cNvPr id="17" name="seq-title-3">
            <a:extLst xmlns:a="http://schemas.openxmlformats.org/drawingml/2006/main">
              <a:ext uri="{FF2B5EF4-FFF2-40B4-BE49-F238E27FC236}">
                <a16:creationId xmlns:a16="http://schemas.microsoft.com/office/drawing/2014/main" id="{59C592A9-10B7-4E13-A0A2-13BC7887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192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Aplicar invariante</a:t>
            </a:r>
          </a:p>
        </p:txBody>
      </p:sp>
      <p:sp>
        <p:nvSpPr>
          <p:cNvPr id="18" name="seq-port-3">
            <a:extLst xmlns:a="http://schemas.openxmlformats.org/drawingml/2006/main">
              <a:ext uri="{FF2B5EF4-FFF2-40B4-BE49-F238E27FC236}">
                <a16:creationId xmlns:a16="http://schemas.microsoft.com/office/drawing/2014/main" id="{08478D68-1BEA-4047-900D-A2CCEDDF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288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Delivery.AssignCourier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1DA0816A-8568-4DEE-ADDB-3FB54DB2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52725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q-n-4">
            <a:extLst xmlns:a="http://schemas.openxmlformats.org/drawingml/2006/main">
              <a:ext uri="{FF2B5EF4-FFF2-40B4-BE49-F238E27FC236}">
                <a16:creationId xmlns:a16="http://schemas.microsoft.com/office/drawing/2014/main" id="{6FDE33EF-04DA-45E4-B6EE-6A323C92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5</a:t>
            </a:r>
          </a:p>
        </p:txBody>
      </p:sp>
      <p:sp>
        <p:nvSpPr>
          <p:cNvPr id="21" name="seq-title-4">
            <a:extLst xmlns:a="http://schemas.openxmlformats.org/drawingml/2006/main">
              <a:ext uri="{FF2B5EF4-FFF2-40B4-BE49-F238E27FC236}">
                <a16:creationId xmlns:a16="http://schemas.microsoft.com/office/drawing/2014/main" id="{E8E7B56B-2F96-4B9C-B3EB-648CF5C8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Guardar</a:t>
            </a:r>
          </a:p>
        </p:txBody>
      </p:sp>
      <p:sp>
        <p:nvSpPr>
          <p:cNvPr id="22" name="seq-port-4">
            <a:extLst xmlns:a="http://schemas.openxmlformats.org/drawingml/2006/main">
              <a:ext uri="{FF2B5EF4-FFF2-40B4-BE49-F238E27FC236}">
                <a16:creationId xmlns:a16="http://schemas.microsoft.com/office/drawing/2014/main" id="{88044B48-DB95-49C4-9116-3DC92C37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IDeliveryRepository</a:t>
            </a:r>
          </a:p>
        </p:txBody>
      </p:sp>
      <p:sp>
        <p:nvSpPr>
          <p:cNvPr id="23" name="divider">
            <a:extLst xmlns:a="http://schemas.openxmlformats.org/drawingml/2006/main">
              <a:ext uri="{FF2B5EF4-FFF2-40B4-BE49-F238E27FC236}">
                <a16:creationId xmlns:a16="http://schemas.microsoft.com/office/drawing/2014/main" id="{7D1BE955-BBEB-4416-A69F-2E555F44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q-n-5">
            <a:extLst xmlns:a="http://schemas.openxmlformats.org/drawingml/2006/main">
              <a:ext uri="{FF2B5EF4-FFF2-40B4-BE49-F238E27FC236}">
                <a16:creationId xmlns:a16="http://schemas.microsoft.com/office/drawing/2014/main" id="{C042937B-9350-4E3E-8B9E-F8FEC49D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672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6</a:t>
            </a:r>
          </a:p>
        </p:txBody>
      </p:sp>
      <p:sp>
        <p:nvSpPr>
          <p:cNvPr id="25" name="seq-title-5">
            <a:extLst xmlns:a="http://schemas.openxmlformats.org/drawingml/2006/main">
              <a:ext uri="{FF2B5EF4-FFF2-40B4-BE49-F238E27FC236}">
                <a16:creationId xmlns:a16="http://schemas.microsoft.com/office/drawing/2014/main" id="{BDFEC5D5-C530-4923-92CD-C19B8B34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672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Registrar evento</a:t>
            </a:r>
          </a:p>
        </p:txBody>
      </p:sp>
      <p:sp>
        <p:nvSpPr>
          <p:cNvPr id="26" name="seq-port-5">
            <a:extLst xmlns:a="http://schemas.openxmlformats.org/drawingml/2006/main">
              <a:ext uri="{FF2B5EF4-FFF2-40B4-BE49-F238E27FC236}">
                <a16:creationId xmlns:a16="http://schemas.microsoft.com/office/drawing/2014/main" id="{A84F49E7-D919-4A53-BE0F-02B7AF73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IAssignmentEvents</a:t>
            </a:r>
          </a:p>
        </p:txBody>
      </p:sp>
      <p:sp>
        <p:nvSpPr>
          <p:cNvPr id="27" name="sequence-note">
            <a:extLst xmlns:a="http://schemas.openxmlformats.org/drawingml/2006/main">
              <a:ext uri="{FF2B5EF4-FFF2-40B4-BE49-F238E27FC236}">
                <a16:creationId xmlns:a16="http://schemas.microsoft.com/office/drawing/2014/main" id="{E2C36694-8AF5-44AA-A851-82CF8239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9D3D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9D3D0"/>
                </a:solidFill>
              </a:defRPr>
            </a:pPr>
            <a:r>
              <a:rPr sz="1275" b="0">
                <a:solidFill>
                  <a:srgbClr val="69D3D0"/>
                </a:solidFill>
              </a:rPr>
              <a:t>El caso de uso recibe sus dependencias por constructor. El evento requiere persistencia confiable (outbox por evaluar en Actividad 4).</a:t>
            </a:r>
          </a:p>
        </p:txBody>
      </p:sp>
    </p:spTree>
    <p:extLst>
      <p:ext uri="{BB962C8B-B14F-4D97-AF65-F5344CB8AC3E}">
        <p14:creationId xmlns:p14="http://schemas.microsoft.com/office/powerpoint/2010/main" val="13333168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E1C6CFF5-1769-4D85-B96E-6BD585C8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LÍMITES DEL SISTEMA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842868-8B02-4458-8B37-342E3474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Arquitectura limpia y C4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14C87741-F32A-46EA-B00D-452E21A9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70C465E-B30B-4496-ADEB-CB631E07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08</a:t>
            </a:r>
          </a:p>
        </p:txBody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5C877053-576B-4578-9870-E9DE133A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90700"/>
            <a:ext cx="6953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C2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4FCEBD3D-F2D8-441A-A2B4-EEBD1801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573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Presentación / API</a:t>
            </a:r>
          </a:p>
        </p:txBody>
      </p:sp>
      <p:sp>
        <p:nvSpPr>
          <p:cNvPr id="7" name="layer-detail-0">
            <a:extLst xmlns:a="http://schemas.openxmlformats.org/drawingml/2006/main">
              <a:ext uri="{FF2B5EF4-FFF2-40B4-BE49-F238E27FC236}">
                <a16:creationId xmlns:a16="http://schemas.microsoft.com/office/drawing/2014/main" id="{D6955303-0B4E-4B5C-B781-C39AFA89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573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Traduce solicitudes a comandos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E0FCFDC7-0FBD-4DDD-9376-CB9A65EF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yer-1">
            <a:extLst xmlns:a="http://schemas.openxmlformats.org/drawingml/2006/main">
              <a:ext uri="{FF2B5EF4-FFF2-40B4-BE49-F238E27FC236}">
                <a16:creationId xmlns:a16="http://schemas.microsoft.com/office/drawing/2014/main" id="{2A576F46-B0F2-4E29-BAED-206FAF70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6953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C2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62E51820-047E-43E7-B2E2-D80F70A0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Aplicación</a:t>
            </a:r>
          </a:p>
        </p:txBody>
      </p:sp>
      <p:sp>
        <p:nvSpPr>
          <p:cNvPr id="11" name="layer-detail-1">
            <a:extLst xmlns:a="http://schemas.openxmlformats.org/drawingml/2006/main">
              <a:ext uri="{FF2B5EF4-FFF2-40B4-BE49-F238E27FC236}">
                <a16:creationId xmlns:a16="http://schemas.microsoft.com/office/drawing/2014/main" id="{21DBC86A-3263-4BB8-99DA-1339FAAF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AssignCourierUseCase + puertos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A688EDA8-1287-4633-8D97-1C3A3402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00425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yer-2">
            <a:extLst xmlns:a="http://schemas.openxmlformats.org/drawingml/2006/main">
              <a:ext uri="{FF2B5EF4-FFF2-40B4-BE49-F238E27FC236}">
                <a16:creationId xmlns:a16="http://schemas.microsoft.com/office/drawing/2014/main" id="{780BB408-D0B7-4A80-8D22-1146552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6953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0560F1A5-D5A0-454C-BEA9-17AEC14E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433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1220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Dominio</a:t>
            </a:r>
          </a:p>
        </p:txBody>
      </p:sp>
      <p:sp>
        <p:nvSpPr>
          <p:cNvPr id="15" name="layer-detail-2">
            <a:extLst xmlns:a="http://schemas.openxmlformats.org/drawingml/2006/main">
              <a:ext uri="{FF2B5EF4-FFF2-40B4-BE49-F238E27FC236}">
                <a16:creationId xmlns:a16="http://schemas.microsoft.com/office/drawing/2014/main" id="{A637F767-36DE-450A-A361-49F88321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4332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0B1220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Delivery + objetos de valor + reglas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6A213205-BFE0-44D1-8803-F6095A94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ayer-3">
            <a:extLst xmlns:a="http://schemas.openxmlformats.org/drawingml/2006/main">
              <a:ext uri="{FF2B5EF4-FFF2-40B4-BE49-F238E27FC236}">
                <a16:creationId xmlns:a16="http://schemas.microsoft.com/office/drawing/2014/main" id="{D0F23C1B-0CEA-412A-BE48-EFF6B7E2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6953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C2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15F7CA53-F2C6-418E-B418-F4A7A057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863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Infraestructura</a:t>
            </a:r>
          </a:p>
        </p:txBody>
      </p:sp>
      <p:sp>
        <p:nvSpPr>
          <p:cNvPr id="19" name="layer-detail-3">
            <a:extLst xmlns:a="http://schemas.openxmlformats.org/drawingml/2006/main">
              <a:ext uri="{FF2B5EF4-FFF2-40B4-BE49-F238E27FC236}">
                <a16:creationId xmlns:a16="http://schemas.microsoft.com/office/drawing/2014/main" id="{345A1052-76A3-496C-A475-F21B222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863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Adaptadores de DB, repartidores, rutas y eventos</a:t>
            </a:r>
          </a:p>
        </p:txBody>
      </p:sp>
      <p:sp>
        <p:nvSpPr>
          <p:cNvPr id="20" name="dependency-note">
            <a:extLst xmlns:a="http://schemas.openxmlformats.org/drawingml/2006/main">
              <a:ext uri="{FF2B5EF4-FFF2-40B4-BE49-F238E27FC236}">
                <a16:creationId xmlns:a16="http://schemas.microsoft.com/office/drawing/2014/main" id="{C2B803FB-4E03-4717-80F4-9B4FCBF9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Las dependencias de código apuntan hacia el dominio. Los adaptadores implementan puertos definidos por Application.</a:t>
            </a:r>
          </a:p>
        </p:txBody>
      </p:sp>
    </p:spTree>
    <p:extLst>
      <p:ext uri="{BB962C8B-B14F-4D97-AF65-F5344CB8AC3E}">
        <p14:creationId xmlns:p14="http://schemas.microsoft.com/office/powerpoint/2010/main" val="598556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552A06D-0C84-49F1-8A8D-7C109329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JUSTIFICACIÓN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B563F6-96C5-4486-9E14-6CE778B1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Decisión de diseño · ADR-001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41FBA728-DF05-427D-9008-9C1492EB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628392-FC28-411F-9E70-7295EC8F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09</a:t>
            </a:r>
          </a:p>
        </p:txBody>
      </p:sp>
      <p:sp>
        <p:nvSpPr>
          <p:cNvPr id="5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5072D9DE-E337-4CC8-A307-D0C4D1B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5F467"/>
                </a:solidFill>
              </a:defRPr>
            </a:pPr>
            <a:r>
              <a:rPr sz="1125" b="1">
                <a:solidFill>
                  <a:srgbClr val="C5F467"/>
                </a:solidFill>
              </a:rPr>
              <a:t>DECISIÓN</a:t>
            </a:r>
          </a:p>
        </p:txBody>
      </p:sp>
      <p:sp>
        <p:nvSpPr>
          <p:cNvPr id="6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48C69E2A-6035-4A5A-8F96-644644A8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14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F7FA"/>
                </a:solidFill>
              </a:defRPr>
            </a:pPr>
            <a:r>
              <a:rPr sz="2100" b="1">
                <a:solidFill>
                  <a:srgbClr val="F5F7FA"/>
                </a:solidFill>
              </a:rPr>
              <a:t>Proteger la regla en Delivery y coordinar el flujo con puertos de aplicación.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8B62BD2E-ECE3-4CDB-9843-37DF7EF8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lternatives-label">
            <a:extLst xmlns:a="http://schemas.openxmlformats.org/drawingml/2006/main">
              <a:ext uri="{FF2B5EF4-FFF2-40B4-BE49-F238E27FC236}">
                <a16:creationId xmlns:a16="http://schemas.microsoft.com/office/drawing/2014/main" id="{917393B8-B8D1-4CE0-94DD-67DF3C7A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9D3D0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9D3D0"/>
                </a:solidFill>
              </a:defRPr>
            </a:pPr>
            <a:r>
              <a:rPr sz="1125" b="1">
                <a:solidFill>
                  <a:srgbClr val="69D3D0"/>
                </a:solidFill>
              </a:rPr>
              <a:t>ALTERNATIVAS DESCARTADAS</a:t>
            </a:r>
          </a:p>
        </p:txBody>
      </p:sp>
      <p:sp>
        <p:nvSpPr>
          <p:cNvPr id="9" name="alternatives">
            <a:extLst xmlns:a="http://schemas.openxmlformats.org/drawingml/2006/main">
              <a:ext uri="{FF2B5EF4-FFF2-40B4-BE49-F238E27FC236}">
                <a16:creationId xmlns:a16="http://schemas.microsoft.com/office/drawing/2014/main" id="{DA9C2C3A-8B34-4C24-BB43-B4423E72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858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Reglas en el controlador → acopla el negocio al transporte</a:t>
            </a:r>
          </a:p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Reglas en el ORM → acopla el negocio a la persistencia</a:t>
            </a:r>
          </a:p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Microservicios desde el inicio → más coordinación antes de validar límites</a:t>
            </a:r>
          </a:p>
        </p:txBody>
      </p:sp>
      <p:sp>
        <p:nvSpPr>
          <p:cNvPr id="10" name="tradeoff-label">
            <a:extLst xmlns:a="http://schemas.openxmlformats.org/drawingml/2006/main">
              <a:ext uri="{FF2B5EF4-FFF2-40B4-BE49-F238E27FC236}">
                <a16:creationId xmlns:a16="http://schemas.microsoft.com/office/drawing/2014/main" id="{CED8840B-D788-483F-A355-1460D0B8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8B7B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8B7B"/>
                </a:solidFill>
              </a:defRPr>
            </a:pPr>
            <a:r>
              <a:rPr sz="1125" b="1">
                <a:solidFill>
                  <a:srgbClr val="FF8B7B"/>
                </a:solidFill>
              </a:rPr>
              <a:t>COSTO A GESTIONAR</a:t>
            </a:r>
          </a:p>
        </p:txBody>
      </p:sp>
      <p:sp>
        <p:nvSpPr>
          <p:cNvPr id="11" name="tradeoff">
            <a:extLst xmlns:a="http://schemas.openxmlformats.org/drawingml/2006/main">
              <a:ext uri="{FF2B5EF4-FFF2-40B4-BE49-F238E27FC236}">
                <a16:creationId xmlns:a16="http://schemas.microsoft.com/office/drawing/2014/main" id="{4927A464-C135-4087-B4B7-B9F4636E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3200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Más contratos y mapeos.</a:t>
            </a:r>
          </a:p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Revalidar disponibilidad/capacidad</a:t>
            </a:r>
          </a:p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para evitar carreras; usar outbox</a:t>
            </a:r>
          </a:p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para entregar eventos con fiabilidad.</a:t>
            </a:r>
          </a:p>
        </p:txBody>
      </p:sp>
      <p:sp>
        <p:nvSpPr>
          <p:cNvPr id="12" name="next-step">
            <a:extLst xmlns:a="http://schemas.openxmlformats.org/drawingml/2006/main">
              <a:ext uri="{FF2B5EF4-FFF2-40B4-BE49-F238E27FC236}">
                <a16:creationId xmlns:a16="http://schemas.microsoft.com/office/drawing/2014/main" id="{42A233C9-C9B9-46E2-B7DE-6C416AE7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Siguiente paso: validar términos ambiguos con negocio e implementar adaptadores en Actividad 4.</a:t>
            </a:r>
          </a:p>
        </p:txBody>
      </p:sp>
    </p:spTree>
    <p:extLst>
      <p:ext uri="{BB962C8B-B14F-4D97-AF65-F5344CB8AC3E}">
        <p14:creationId xmlns:p14="http://schemas.microsoft.com/office/powerpoint/2010/main" val="1800466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2026-10-11T07:48:41.8200000Z</dcterms:created>
  <dcterms:modified xsi:type="dcterms:W3CDTF">2026-10-11T07:48:41.8200000Z</dcterms:modified>
</coreProperties>
</file>