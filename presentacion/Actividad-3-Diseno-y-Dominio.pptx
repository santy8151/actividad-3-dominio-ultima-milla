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280bcadaba4a84" /><Relationship Type="http://schemas.openxmlformats.org/officeDocument/2006/relationships/extended-properties" Target="/docProps/app.xml" Id="Ra79475a975294c80" /><Relationship Type="http://schemas.openxmlformats.org/officeDocument/2006/relationships/officeDocument" Target="/ppt/presentation.xml" Id="R064fff6855b04e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86d800913c4ae8"/>
  </p:sldMasterIdLst>
  <p:notesMasterIdLst>
    <p:notesMasterId xmlns:r="http://schemas.openxmlformats.org/officeDocument/2006/relationships" r:id="R93553650fe1346f7"/>
  </p:notesMasterIdLst>
  <p:sldIdLst>
    <p:sldId xmlns:r="http://schemas.openxmlformats.org/officeDocument/2006/relationships" id="256" r:id="R8f04eca4e3b94447"/>
    <p:sldId xmlns:r="http://schemas.openxmlformats.org/officeDocument/2006/relationships" id="257" r:id="R6f5820382b2b475a"/>
    <p:sldId xmlns:r="http://schemas.openxmlformats.org/officeDocument/2006/relationships" id="258" r:id="Re78524e74f214d0a"/>
    <p:sldId xmlns:r="http://schemas.openxmlformats.org/officeDocument/2006/relationships" id="259" r:id="R07870411552843f4"/>
    <p:sldId xmlns:r="http://schemas.openxmlformats.org/officeDocument/2006/relationships" id="260" r:id="Rd658b0ec66b14a2c"/>
    <p:sldId xmlns:r="http://schemas.openxmlformats.org/officeDocument/2006/relationships" id="261" r:id="Rf47b48e6022645a3"/>
    <p:sldId xmlns:r="http://schemas.openxmlformats.org/officeDocument/2006/relationships" id="262" r:id="R3de2f842143f4a85"/>
    <p:sldId xmlns:r="http://schemas.openxmlformats.org/officeDocument/2006/relationships" id="263" r:id="Rd2758364a460461b"/>
    <p:sldId xmlns:r="http://schemas.openxmlformats.org/officeDocument/2006/relationships" id="264" r:id="R8682d1b667534c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c1654a5d62425c" /><Relationship Type="http://schemas.openxmlformats.org/officeDocument/2006/relationships/slideMaster" Target="/ppt/slideMasters/slideMaster1.xml" Id="Ra286d800913c4ae8" /><Relationship Type="http://schemas.openxmlformats.org/officeDocument/2006/relationships/notesMaster" Target="/ppt/notesMasters/notesMaster1.xml" Id="R93553650fe1346f7" /><Relationship Type="http://schemas.openxmlformats.org/officeDocument/2006/relationships/presProps" Target="/ppt/presProps.xml" Id="R9064b78eed014488" /><Relationship Type="http://schemas.openxmlformats.org/officeDocument/2006/relationships/tableStyles" Target="/ppt/tableStyles.xml" Id="Rab9af24e7bdb4d28" /><Relationship Type="http://schemas.openxmlformats.org/officeDocument/2006/relationships/slide" Target="/ppt/slides/slide1.xml" Id="R8f04eca4e3b94447" /><Relationship Type="http://schemas.openxmlformats.org/officeDocument/2006/relationships/slide" Target="/ppt/slides/slide2.xml" Id="R6f5820382b2b475a" /><Relationship Type="http://schemas.openxmlformats.org/officeDocument/2006/relationships/slide" Target="/ppt/slides/slide3.xml" Id="Re78524e74f214d0a" /><Relationship Type="http://schemas.openxmlformats.org/officeDocument/2006/relationships/slide" Target="/ppt/slides/slide4.xml" Id="R07870411552843f4" /><Relationship Type="http://schemas.openxmlformats.org/officeDocument/2006/relationships/slide" Target="/ppt/slides/slide5.xml" Id="Rd658b0ec66b14a2c" /><Relationship Type="http://schemas.openxmlformats.org/officeDocument/2006/relationships/slide" Target="/ppt/slides/slide6.xml" Id="Rf47b48e6022645a3" /><Relationship Type="http://schemas.openxmlformats.org/officeDocument/2006/relationships/slide" Target="/ppt/slides/slide7.xml" Id="R3de2f842143f4a85" /><Relationship Type="http://schemas.openxmlformats.org/officeDocument/2006/relationships/slide" Target="/ppt/slides/slide8.xml" Id="Rd2758364a460461b" /><Relationship Type="http://schemas.openxmlformats.org/officeDocument/2006/relationships/slide" Target="/ppt/slides/slide9.xml" Id="R8682d1b667534c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81116d443246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46cb974d694eb7" /><Relationship Type="http://schemas.openxmlformats.org/officeDocument/2006/relationships/notesMaster" Target="/ppt/notesMasters/notesMaster1.xml" Id="R7446e3c90c4745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afe9fd4ee74a1c" /><Relationship Type="http://schemas.openxmlformats.org/officeDocument/2006/relationships/notesMaster" Target="/ppt/notesMasters/notesMaster1.xml" Id="R5d93f967a1e543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487a93c0d8499e" /><Relationship Type="http://schemas.openxmlformats.org/officeDocument/2006/relationships/notesMaster" Target="/ppt/notesMasters/notesMaster1.xml" Id="R6e2018475e7b4b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1aa9e416b54e69" /><Relationship Type="http://schemas.openxmlformats.org/officeDocument/2006/relationships/notesMaster" Target="/ppt/notesMasters/notesMaster1.xml" Id="R5324b17805384e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b6c16aae524b53" /><Relationship Type="http://schemas.openxmlformats.org/officeDocument/2006/relationships/notesMaster" Target="/ppt/notesMasters/notesMaster1.xml" Id="R7909662527e546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3df6ee1272417a" /><Relationship Type="http://schemas.openxmlformats.org/officeDocument/2006/relationships/notesMaster" Target="/ppt/notesMasters/notesMaster1.xml" Id="R36c8eb6ca1c44e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81e064aefd4588" /><Relationship Type="http://schemas.openxmlformats.org/officeDocument/2006/relationships/notesMaster" Target="/ppt/notesMasters/notesMaster1.xml" Id="Rf8e51c95110a45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d8764be4f44d99" /><Relationship Type="http://schemas.openxmlformats.org/officeDocument/2006/relationships/notesMaster" Target="/ppt/notesMasters/notesMaster1.xml" Id="R00bd0ee0bf814f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77ac70d4884601" /><Relationship Type="http://schemas.openxmlformats.org/officeDocument/2006/relationships/notesMaster" Target="/ppt/notesMasters/notesMaster1.xml" Id="Rd4508abbc0024c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flujo acotado AssignCourierUseCase. Los artefactos de arquitectura son una propuesta para la Actividad 3; no describen integraciones ya construidas.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base: actividad_3_dominio_y_diseno (1).pdf y texto de trabajo proporcionados por el usuario. La propuesta distingue el diseño académico de una implementación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01f9aa2ae40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e019658684e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38f743cd44f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9acd65cd24c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dfe8be7a640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963b4726a4a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C999D0-BC45-48C0-80E2-8EF1069BD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22AD3F-5EAD-46B1-B1B5-BE4F57780F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E036CE-2935-410F-862A-6A81BB7BE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4C8FC4-3578-4A2B-847E-8266344D2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BAA51F-0C12-4E73-8897-471DF6C5DB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FD38E4-219D-401A-8546-C7DC2F28D6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4B8022-217C-432B-979D-5D50A75A0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129946-0782-44C7-B557-920F914301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F36BF9-2525-4AC3-B896-1DCE009F6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B88E1C-827B-4603-99DC-EA38EB0D5C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8850aca81e451c" /><Relationship Type="http://schemas.openxmlformats.org/officeDocument/2006/relationships/slideLayout" Target="/ppt/slideLayouts/slideLayout1.xml" Id="Rddbf0316b5c746db" /><Relationship Type="http://schemas.openxmlformats.org/officeDocument/2006/relationships/slideLayout" Target="/ppt/slideLayouts/slideLayout2.xml" Id="R30a2c92191944f4d" /><Relationship Type="http://schemas.openxmlformats.org/officeDocument/2006/relationships/slideLayout" Target="/ppt/slideLayouts/slideLayout3.xml" Id="R9a68908d3e634e86" /><Relationship Type="http://schemas.openxmlformats.org/officeDocument/2006/relationships/slideLayout" Target="/ppt/slideLayouts/slideLayout4.xml" Id="R37fbb87d456a4407" /><Relationship Type="http://schemas.openxmlformats.org/officeDocument/2006/relationships/slideLayout" Target="/ppt/slideLayouts/slideLayout5.xml" Id="Re46fcd3acf14440b" /><Relationship Type="http://schemas.openxmlformats.org/officeDocument/2006/relationships/slideLayout" Target="/ppt/slideLayouts/slideLayout6.xml" Id="R93bfaead90ce49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f0316b5c746db"/>
    <p:sldLayoutId xmlns:r="http://schemas.openxmlformats.org/officeDocument/2006/relationships" id="2147483650" r:id="R30a2c92191944f4d"/>
    <p:sldLayoutId xmlns:r="http://schemas.openxmlformats.org/officeDocument/2006/relationships" id="2147483651" r:id="R9a68908d3e634e86"/>
    <p:sldLayoutId xmlns:r="http://schemas.openxmlformats.org/officeDocument/2006/relationships" id="2147483652" r:id="R37fbb87d456a4407"/>
    <p:sldLayoutId xmlns:r="http://schemas.openxmlformats.org/officeDocument/2006/relationships" id="2147483653" r:id="Re46fcd3acf14440b"/>
    <p:sldLayoutId xmlns:r="http://schemas.openxmlformats.org/officeDocument/2006/relationships" id="2147483654" r:id="R93bfaead90ce49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6cabad7e14675" /><Relationship Type="http://schemas.openxmlformats.org/officeDocument/2006/relationships/notesSlide" Target="/ppt/notesSlides/notesSlide1.xml" Id="R661a58c0a9ec45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17722a6ed44f8a" /><Relationship Type="http://schemas.openxmlformats.org/officeDocument/2006/relationships/notesSlide" Target="/ppt/notesSlides/notesSlide2.xml" Id="Rda859581883540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5009bfc9143ba" /><Relationship Type="http://schemas.openxmlformats.org/officeDocument/2006/relationships/notesSlide" Target="/ppt/notesSlides/notesSlide3.xml" Id="Rf41c235d405346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2ba4a2c954586" /><Relationship Type="http://schemas.openxmlformats.org/officeDocument/2006/relationships/notesSlide" Target="/ppt/notesSlides/notesSlide4.xml" Id="R4ff82689455e42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af2d08f334694" /><Relationship Type="http://schemas.openxmlformats.org/officeDocument/2006/relationships/notesSlide" Target="/ppt/notesSlides/notesSlide5.xml" Id="R5f0c550d05aa47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e67112e3647de" /><Relationship Type="http://schemas.openxmlformats.org/officeDocument/2006/relationships/notesSlide" Target="/ppt/notesSlides/notesSlide6.xml" Id="Re9a245fff60240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01104c6be4601" /><Relationship Type="http://schemas.openxmlformats.org/officeDocument/2006/relationships/notesSlide" Target="/ppt/notesSlides/notesSlide7.xml" Id="R1806620949564a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16aa5b664491a" /><Relationship Type="http://schemas.openxmlformats.org/officeDocument/2006/relationships/notesSlide" Target="/ppt/notesSlides/notesSlide8.xml" Id="R205e31f9f10c42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ecdf6e17f4fb6" /><Relationship Type="http://schemas.openxmlformats.org/officeDocument/2006/relationships/notesSlide" Target="/ppt/notesSlides/notesSlide9.xml" Id="R17a852b95c6a40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1A023D9-DE38-4DB4-A061-AF4DBBB3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C8CC5DA-9659-41A0-A41D-92D230AF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096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5F467"/>
                </a:solidFill>
              </a:defRPr>
            </a:pPr>
            <a:r>
              <a:rPr sz="1275" b="1">
                <a:solidFill>
                  <a:srgbClr val="C5F467"/>
                </a:solidFill>
              </a:rPr>
              <a:t>ACTIVIDAD 3  /  DISEÑO Y DOMINIO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E5DB92F-62FC-4883-85B5-B1F1FCDF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5F7FA"/>
                </a:solidFill>
              </a:defRPr>
            </a:pPr>
            <a:r>
              <a:rPr sz="4050" b="1">
                <a:solidFill>
                  <a:srgbClr val="F5F7FA"/>
                </a:solidFill>
              </a:rPr>
              <a:t>Asignar un repartidor</a:t>
            </a:r>
          </a:p>
          <a:p xmlns:a="http://schemas.openxmlformats.org/drawingml/2006/main">
            <a:pPr algn="l">
              <a:defRPr sz="4050" b="1">
                <a:solidFill>
                  <a:srgbClr val="F5F7FA"/>
                </a:solidFill>
              </a:defRPr>
            </a:pPr>
            <a:r>
              <a:rPr sz="4050" b="1">
                <a:solidFill>
                  <a:srgbClr val="F5F7FA"/>
                </a:solidFill>
              </a:rPr>
              <a:t>a una entrega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CE3BCC6-6229-407B-BAB7-144CA662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AAB6C7"/>
                </a:solidFill>
              </a:defRPr>
            </a:pPr>
            <a:r>
              <a:rPr sz="1950" b="0">
                <a:solidFill>
                  <a:srgbClr val="AAB6C7"/>
                </a:solidFill>
              </a:rPr>
              <a:t>Plataforma logística de última milla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A4C56A0C-4132-448E-B0BA-6E6C065E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95825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94ADFA46-6867-4676-AF1D-CEAF6243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676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Reglas del negocio protegidas.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Infraestructura detrás de contratos.</a:t>
            </a:r>
          </a:p>
        </p:txBody>
      </p:sp>
      <p:sp>
        <p:nvSpPr>
          <p:cNvPr id="7" name="cover-index">
            <a:extLst xmlns:a="http://schemas.openxmlformats.org/drawingml/2006/main">
              <a:ext uri="{FF2B5EF4-FFF2-40B4-BE49-F238E27FC236}">
                <a16:creationId xmlns:a16="http://schemas.microsoft.com/office/drawing/2014/main" id="{BA8C4480-48EA-47EE-893C-6120E79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150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DDD     ·     BDD     ·     ARQUITECTURA LIMPIA</a:t>
            </a:r>
          </a:p>
        </p:txBody>
      </p:sp>
    </p:spTree>
    <p:extLst>
      <p:ext uri="{BB962C8B-B14F-4D97-AF65-F5344CB8AC3E}">
        <p14:creationId xmlns:p14="http://schemas.microsoft.com/office/powerpoint/2010/main" val="355852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6CA56EE7-9536-4BD5-9A3D-51C8E478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FLUJO DE NEGOCIO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3E8362-7C30-4303-9166-72309BE3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Asignación de repartidor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D78EEBB7-12E6-4BAC-85DA-3A024BB3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C5C531-7E94-4969-928F-60EC4DF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02</a:t>
            </a:r>
          </a:p>
        </p:txBody>
      </p:sp>
      <p:sp>
        <p:nvSpPr>
          <p:cNvPr id="5" name="purpose">
            <a:extLst xmlns:a="http://schemas.openxmlformats.org/drawingml/2006/main">
              <a:ext uri="{FF2B5EF4-FFF2-40B4-BE49-F238E27FC236}">
                <a16:creationId xmlns:a16="http://schemas.microsoft.com/office/drawing/2014/main" id="{669CF032-BA2A-4FCD-BDD8-36FCF4EB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AB6C7"/>
                </a:solidFill>
              </a:defRPr>
            </a:pPr>
            <a:r>
              <a:rPr sz="1875" b="0">
                <a:solidFill>
                  <a:srgbClr val="AAB6C7"/>
                </a:solidFill>
              </a:rPr>
              <a:t>Asociar una entrega pendiente con un repartidor elegible, sin duplicar asignaciones ni exceder la capacidad de ruta.</a:t>
            </a:r>
          </a:p>
        </p:txBody>
      </p:sp>
      <p:sp>
        <p:nvSpPr>
          <p:cNvPr id="6" name="step-0-num">
            <a:extLst xmlns:a="http://schemas.openxmlformats.org/drawingml/2006/main">
              <a:ext uri="{FF2B5EF4-FFF2-40B4-BE49-F238E27FC236}">
                <a16:creationId xmlns:a16="http://schemas.microsoft.com/office/drawing/2014/main" id="{76EC2E0C-9E42-4C28-8CA6-7000B5D3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01</a:t>
            </a:r>
          </a:p>
        </p:txBody>
      </p:sp>
      <p:sp>
        <p:nvSpPr>
          <p:cNvPr id="7" name="step-0-head">
            <a:extLst xmlns:a="http://schemas.openxmlformats.org/drawingml/2006/main">
              <a:ext uri="{FF2B5EF4-FFF2-40B4-BE49-F238E27FC236}">
                <a16:creationId xmlns:a16="http://schemas.microsoft.com/office/drawing/2014/main" id="{37805C69-9FA6-4ADE-828F-D77501DF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ENTREGA</a:t>
            </a:r>
          </a:p>
        </p:txBody>
      </p:sp>
      <p:sp>
        <p:nvSpPr>
          <p:cNvPr id="8" name="step-0-sub">
            <a:extLst xmlns:a="http://schemas.openxmlformats.org/drawingml/2006/main">
              <a:ext uri="{FF2B5EF4-FFF2-40B4-BE49-F238E27FC236}">
                <a16:creationId xmlns:a16="http://schemas.microsoft.com/office/drawing/2014/main" id="{78A472A9-3C61-408C-BDF6-0F8C01D0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Pendiente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63BA1007-A775-4F90-B7CF-675650B0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194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1-num">
            <a:extLst xmlns:a="http://schemas.openxmlformats.org/drawingml/2006/main">
              <a:ext uri="{FF2B5EF4-FFF2-40B4-BE49-F238E27FC236}">
                <a16:creationId xmlns:a16="http://schemas.microsoft.com/office/drawing/2014/main" id="{B9221AE8-7403-4CC3-9C9F-BEC2EF88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02</a:t>
            </a:r>
          </a:p>
        </p:txBody>
      </p:sp>
      <p:sp>
        <p:nvSpPr>
          <p:cNvPr id="11" name="step-1-head">
            <a:extLst xmlns:a="http://schemas.openxmlformats.org/drawingml/2006/main">
              <a:ext uri="{FF2B5EF4-FFF2-40B4-BE49-F238E27FC236}">
                <a16:creationId xmlns:a16="http://schemas.microsoft.com/office/drawing/2014/main" id="{CCF58815-F969-4C75-A081-7D3CA1A4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05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ELEGIBILIDAD</a:t>
            </a:r>
          </a:p>
        </p:txBody>
      </p:sp>
      <p:sp>
        <p:nvSpPr>
          <p:cNvPr id="12" name="step-1-sub">
            <a:extLst xmlns:a="http://schemas.openxmlformats.org/drawingml/2006/main">
              <a:ext uri="{FF2B5EF4-FFF2-40B4-BE49-F238E27FC236}">
                <a16:creationId xmlns:a16="http://schemas.microsoft.com/office/drawing/2014/main" id="{9611C5C1-D03D-4F91-93B4-B527A8E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433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Repartidor + ruta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D6A77EB6-2F48-4F8A-BA29-3B5750E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194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2-num">
            <a:extLst xmlns:a="http://schemas.openxmlformats.org/drawingml/2006/main">
              <a:ext uri="{FF2B5EF4-FFF2-40B4-BE49-F238E27FC236}">
                <a16:creationId xmlns:a16="http://schemas.microsoft.com/office/drawing/2014/main" id="{C5168096-0FDB-4E3D-AE92-9B87AFF5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03</a:t>
            </a:r>
          </a:p>
        </p:txBody>
      </p:sp>
      <p:sp>
        <p:nvSpPr>
          <p:cNvPr id="15" name="step-2-head">
            <a:extLst xmlns:a="http://schemas.openxmlformats.org/drawingml/2006/main">
              <a:ext uri="{FF2B5EF4-FFF2-40B4-BE49-F238E27FC236}">
                <a16:creationId xmlns:a16="http://schemas.microsoft.com/office/drawing/2014/main" id="{9645D9F7-BA6C-4708-9EEF-D0BE3D3B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05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ASIGNACIÓN</a:t>
            </a:r>
          </a:p>
        </p:txBody>
      </p:sp>
      <p:sp>
        <p:nvSpPr>
          <p:cNvPr id="16" name="step-2-sub">
            <a:extLst xmlns:a="http://schemas.openxmlformats.org/drawingml/2006/main">
              <a:ext uri="{FF2B5EF4-FFF2-40B4-BE49-F238E27FC236}">
                <a16:creationId xmlns:a16="http://schemas.microsoft.com/office/drawing/2014/main" id="{4D91CF9A-947E-4BE3-8EFD-4C02AA0B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433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Invariante protegida</a:t>
            </a:r>
          </a:p>
        </p:txBody>
      </p:sp>
      <p:sp>
        <p:nvSpPr>
          <p:cNvPr id="17" name="divider">
            <a:extLst xmlns:a="http://schemas.openxmlformats.org/drawingml/2006/main">
              <a:ext uri="{FF2B5EF4-FFF2-40B4-BE49-F238E27FC236}">
                <a16:creationId xmlns:a16="http://schemas.microsoft.com/office/drawing/2014/main" id="{68DED08D-9F45-49DA-8AE1-4304F730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194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3-num">
            <a:extLst xmlns:a="http://schemas.openxmlformats.org/drawingml/2006/main">
              <a:ext uri="{FF2B5EF4-FFF2-40B4-BE49-F238E27FC236}">
                <a16:creationId xmlns:a16="http://schemas.microsoft.com/office/drawing/2014/main" id="{EA52E961-D4E8-4794-B85F-9C1A7E65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04</a:t>
            </a:r>
          </a:p>
        </p:txBody>
      </p:sp>
      <p:sp>
        <p:nvSpPr>
          <p:cNvPr id="19" name="step-3-head">
            <a:extLst xmlns:a="http://schemas.openxmlformats.org/drawingml/2006/main">
              <a:ext uri="{FF2B5EF4-FFF2-40B4-BE49-F238E27FC236}">
                <a16:creationId xmlns:a16="http://schemas.microsoft.com/office/drawing/2014/main" id="{2AB92583-250C-4401-A71B-B302E4D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051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TRAZABILIDAD</a:t>
            </a:r>
          </a:p>
        </p:txBody>
      </p:sp>
      <p:sp>
        <p:nvSpPr>
          <p:cNvPr id="20" name="step-3-sub">
            <a:extLst xmlns:a="http://schemas.openxmlformats.org/drawingml/2006/main">
              <a:ext uri="{FF2B5EF4-FFF2-40B4-BE49-F238E27FC236}">
                <a16:creationId xmlns:a16="http://schemas.microsoft.com/office/drawing/2014/main" id="{35F88D73-64C5-4A7A-803C-7C5C0098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433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Evento registrado</a:t>
            </a:r>
          </a:p>
        </p:txBody>
      </p:sp>
      <p:sp>
        <p:nvSpPr>
          <p:cNvPr id="21" name="divider">
            <a:extLst xmlns:a="http://schemas.openxmlformats.org/drawingml/2006/main">
              <a:ext uri="{FF2B5EF4-FFF2-40B4-BE49-F238E27FC236}">
                <a16:creationId xmlns:a16="http://schemas.microsoft.com/office/drawing/2014/main" id="{2D55CACB-49B6-42FB-A3FE-95989FDC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ctors">
            <a:extLst xmlns:a="http://schemas.openxmlformats.org/drawingml/2006/main">
              <a:ext uri="{FF2B5EF4-FFF2-40B4-BE49-F238E27FC236}">
                <a16:creationId xmlns:a16="http://schemas.microsoft.com/office/drawing/2014/main" id="{6EFCBEE1-17CF-48D5-8CFC-FB42AB3C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5F467"/>
                </a:solidFill>
              </a:defRPr>
            </a:pPr>
            <a:r>
              <a:rPr sz="1125" b="1">
                <a:solidFill>
                  <a:srgbClr val="C5F467"/>
                </a:solidFill>
              </a:rPr>
              <a:t>ACTORES</a:t>
            </a:r>
          </a:p>
        </p:txBody>
      </p:sp>
      <p:sp>
        <p:nvSpPr>
          <p:cNvPr id="23" name="actor-list">
            <a:extLst xmlns:a="http://schemas.openxmlformats.org/drawingml/2006/main">
              <a:ext uri="{FF2B5EF4-FFF2-40B4-BE49-F238E27FC236}">
                <a16:creationId xmlns:a16="http://schemas.microsoft.com/office/drawing/2014/main" id="{8BFBD7C4-41EC-443C-9A5D-6FA6A147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Operador logístico  ·  Despacho automático  ·  Gestión de entregas  ·  Repartidor</a:t>
            </a:r>
          </a:p>
        </p:txBody>
      </p:sp>
    </p:spTree>
    <p:extLst>
      <p:ext uri="{BB962C8B-B14F-4D97-AF65-F5344CB8AC3E}">
        <p14:creationId xmlns:p14="http://schemas.microsoft.com/office/powerpoint/2010/main" val="1229057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71490023-FC0E-4127-90D8-9765A80B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DOMINIO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D150F0-61BC-43AB-8A0D-4241053C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Lenguaje ubicuo y límites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B25B221E-A062-423A-9E36-647FAFF0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170F31-40C1-4EF1-A243-2B9A3DBF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03</a:t>
            </a:r>
          </a:p>
        </p:txBody>
      </p:sp>
      <p:sp>
        <p:nvSpPr>
          <p:cNvPr id="5" name="term-0">
            <a:extLst xmlns:a="http://schemas.openxmlformats.org/drawingml/2006/main">
              <a:ext uri="{FF2B5EF4-FFF2-40B4-BE49-F238E27FC236}">
                <a16:creationId xmlns:a16="http://schemas.microsoft.com/office/drawing/2014/main" id="{3214214B-D85D-4E9D-A9A7-E84D1B00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5F467"/>
                </a:solidFill>
              </a:defRPr>
            </a:pPr>
            <a:r>
              <a:rPr sz="1575" b="1">
                <a:solidFill>
                  <a:srgbClr val="C5F467"/>
                </a:solidFill>
              </a:rPr>
              <a:t>Delivery</a:t>
            </a:r>
          </a:p>
        </p:txBody>
      </p:sp>
      <p:sp>
        <p:nvSpPr>
          <p:cNvPr id="6" name="definition-0">
            <a:extLst xmlns:a="http://schemas.openxmlformats.org/drawingml/2006/main">
              <a:ext uri="{FF2B5EF4-FFF2-40B4-BE49-F238E27FC236}">
                <a16:creationId xmlns:a16="http://schemas.microsoft.com/office/drawing/2014/main" id="{250EB0CB-718D-4935-8926-F54B92B0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621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Entrega logística con identidad y ciclo de vida propios.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8355570-DFDF-4C93-9507-C962434F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rm-1">
            <a:extLst xmlns:a="http://schemas.openxmlformats.org/drawingml/2006/main">
              <a:ext uri="{FF2B5EF4-FFF2-40B4-BE49-F238E27FC236}">
                <a16:creationId xmlns:a16="http://schemas.microsoft.com/office/drawing/2014/main" id="{11F46671-8997-4968-8BA6-FC1520EE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5F467"/>
                </a:solidFill>
              </a:defRPr>
            </a:pPr>
            <a:r>
              <a:rPr sz="1575" b="1">
                <a:solidFill>
                  <a:srgbClr val="C5F467"/>
                </a:solidFill>
              </a:rPr>
              <a:t>Courier</a:t>
            </a:r>
          </a:p>
        </p:txBody>
      </p:sp>
      <p:sp>
        <p:nvSpPr>
          <p:cNvPr id="9" name="definition-1">
            <a:extLst xmlns:a="http://schemas.openxmlformats.org/drawingml/2006/main">
              <a:ext uri="{FF2B5EF4-FFF2-40B4-BE49-F238E27FC236}">
                <a16:creationId xmlns:a16="http://schemas.microsoft.com/office/drawing/2014/main" id="{8176FCF9-8E0C-4244-8302-3561B5AD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98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Repartidor candidato cuya disponibilidad se consulta.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BDCD0284-3CD8-4B28-AA86-BC8DE5C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rm-2">
            <a:extLst xmlns:a="http://schemas.openxmlformats.org/drawingml/2006/main">
              <a:ext uri="{FF2B5EF4-FFF2-40B4-BE49-F238E27FC236}">
                <a16:creationId xmlns:a16="http://schemas.microsoft.com/office/drawing/2014/main" id="{66749129-5697-4CD8-9E44-E64AB679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5F467"/>
                </a:solidFill>
              </a:defRPr>
            </a:pPr>
            <a:r>
              <a:rPr sz="1575" b="1">
                <a:solidFill>
                  <a:srgbClr val="C5F467"/>
                </a:solidFill>
              </a:rPr>
              <a:t>Invariante</a:t>
            </a:r>
          </a:p>
        </p:txBody>
      </p:sp>
      <p:sp>
        <p:nvSpPr>
          <p:cNvPr id="12" name="definition-2">
            <a:extLst xmlns:a="http://schemas.openxmlformats.org/drawingml/2006/main">
              <a:ext uri="{FF2B5EF4-FFF2-40B4-BE49-F238E27FC236}">
                <a16:creationId xmlns:a16="http://schemas.microsoft.com/office/drawing/2014/main" id="{E149920F-2F74-42DD-B530-D72D399C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575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Regla que siempre protege la validez de la entrega.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337A8456-3702-413B-81D2-5D59EE79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rm-3">
            <a:extLst xmlns:a="http://schemas.openxmlformats.org/drawingml/2006/main">
              <a:ext uri="{FF2B5EF4-FFF2-40B4-BE49-F238E27FC236}">
                <a16:creationId xmlns:a16="http://schemas.microsoft.com/office/drawing/2014/main" id="{2ECBA6A7-136C-4432-B1FA-792DF861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5F467"/>
                </a:solidFill>
              </a:defRPr>
            </a:pPr>
            <a:r>
              <a:rPr sz="1575" b="1">
                <a:solidFill>
                  <a:srgbClr val="C5F467"/>
                </a:solidFill>
              </a:rPr>
              <a:t>Puerto / adaptador</a:t>
            </a:r>
          </a:p>
        </p:txBody>
      </p:sp>
      <p:sp>
        <p:nvSpPr>
          <p:cNvPr id="15" name="definition-3">
            <a:extLst xmlns:a="http://schemas.openxmlformats.org/drawingml/2006/main">
              <a:ext uri="{FF2B5EF4-FFF2-40B4-BE49-F238E27FC236}">
                <a16:creationId xmlns:a16="http://schemas.microsoft.com/office/drawing/2014/main" id="{6D32DB20-15DA-4572-8698-9F4B132E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053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F7FA"/>
                </a:solidFill>
              </a:defRPr>
            </a:pPr>
            <a:r>
              <a:rPr sz="1500" b="0">
                <a:solidFill>
                  <a:srgbClr val="F5F7FA"/>
                </a:solidFill>
              </a:rPr>
              <a:t>Contrato requerido / implementación tecnológica.</a:t>
            </a:r>
          </a:p>
        </p:txBody>
      </p:sp>
      <p:sp>
        <p:nvSpPr>
          <p:cNvPr id="16" name="context-line">
            <a:extLst xmlns:a="http://schemas.openxmlformats.org/drawingml/2006/main">
              <a:ext uri="{FF2B5EF4-FFF2-40B4-BE49-F238E27FC236}">
                <a16:creationId xmlns:a16="http://schemas.microsoft.com/office/drawing/2014/main" id="{7D6E75EE-6943-4AD9-A806-33DA8785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Despacho coordina. Gestión de entregas es dueña de Delivery. Repartidores informa disponibilidad. Rutas valida capacidad y recibe DeliveryAssigned.</a:t>
            </a:r>
          </a:p>
        </p:txBody>
      </p:sp>
    </p:spTree>
    <p:extLst>
      <p:ext uri="{BB962C8B-B14F-4D97-AF65-F5344CB8AC3E}">
        <p14:creationId xmlns:p14="http://schemas.microsoft.com/office/powerpoint/2010/main" val="490996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DF3694B3-DC1B-4E0F-9329-42FA7C75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ENTIDAD Y OBJETOS DE VALOR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F41B24-307C-4925-A3B9-CBA9856B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Modelo de dominio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8C8E4843-4C53-4C9C-924F-667749C4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20AABA-E0E8-4ADD-A045-BFABEF11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04</a:t>
            </a:r>
          </a:p>
        </p:txBody>
      </p:sp>
      <p:sp>
        <p:nvSpPr>
          <p:cNvPr id="5" name="entity-kicker">
            <a:extLst xmlns:a="http://schemas.openxmlformats.org/drawingml/2006/main">
              <a:ext uri="{FF2B5EF4-FFF2-40B4-BE49-F238E27FC236}">
                <a16:creationId xmlns:a16="http://schemas.microsoft.com/office/drawing/2014/main" id="{1CC9F386-CE90-4B34-BD25-2EDB42AB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5F467"/>
                </a:solidFill>
              </a:defRPr>
            </a:pPr>
            <a:r>
              <a:rPr sz="1125" b="1">
                <a:solidFill>
                  <a:srgbClr val="C5F467"/>
                </a:solidFill>
              </a:rPr>
              <a:t>RAÍZ DE AGREGADO</a:t>
            </a:r>
          </a:p>
        </p:txBody>
      </p:sp>
      <p:sp>
        <p:nvSpPr>
          <p:cNvPr id="6" name="entity-name">
            <a:extLst xmlns:a="http://schemas.openxmlformats.org/drawingml/2006/main">
              <a:ext uri="{FF2B5EF4-FFF2-40B4-BE49-F238E27FC236}">
                <a16:creationId xmlns:a16="http://schemas.microsoft.com/office/drawing/2014/main" id="{1F32C6D4-CBAE-4B14-894D-5B20EF21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5F7FA"/>
                </a:solidFill>
              </a:defRPr>
            </a:pPr>
            <a:r>
              <a:rPr sz="3300" b="1">
                <a:solidFill>
                  <a:srgbClr val="F5F7FA"/>
                </a:solidFill>
              </a:rPr>
              <a:t>Delivery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C978FF59-A60E-4BF1-8D62-A96EF467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428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ntity-fields">
            <a:extLst xmlns:a="http://schemas.openxmlformats.org/drawingml/2006/main">
              <a:ext uri="{FF2B5EF4-FFF2-40B4-BE49-F238E27FC236}">
                <a16:creationId xmlns:a16="http://schemas.microsoft.com/office/drawing/2014/main" id="{B158638A-946A-42AD-A0F2-A3A14794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14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5F7FA"/>
                </a:solidFill>
              </a:defRPr>
            </a:pPr>
            <a:r>
              <a:rPr sz="1800" b="0">
                <a:solidFill>
                  <a:srgbClr val="F5F7FA"/>
                </a:solidFill>
              </a:rPr>
              <a:t>Id: DeliveryId</a:t>
            </a:r>
          </a:p>
          <a:p xmlns:a="http://schemas.openxmlformats.org/drawingml/2006/main">
            <a:pPr algn="l">
              <a:defRPr sz="1800" b="0">
                <a:solidFill>
                  <a:srgbClr val="F5F7FA"/>
                </a:solidFill>
              </a:defRPr>
            </a:pPr>
            <a:r>
              <a:rPr sz="1800" b="0">
                <a:solidFill>
                  <a:srgbClr val="F5F7FA"/>
                </a:solidFill>
              </a:rPr>
              <a:t>Address: DeliveryAddress</a:t>
            </a:r>
          </a:p>
          <a:p xmlns:a="http://schemas.openxmlformats.org/drawingml/2006/main">
            <a:pPr algn="l">
              <a:defRPr sz="1800" b="0">
                <a:solidFill>
                  <a:srgbClr val="F5F7FA"/>
                </a:solidFill>
              </a:defRPr>
            </a:pPr>
            <a:r>
              <a:rPr sz="1800" b="0">
                <a:solidFill>
                  <a:srgbClr val="F5F7FA"/>
                </a:solidFill>
              </a:rPr>
              <a:t>CourierId: CourierId?</a:t>
            </a:r>
          </a:p>
          <a:p xmlns:a="http://schemas.openxmlformats.org/drawingml/2006/main">
            <a:pPr algn="l">
              <a:defRPr sz="1800" b="0">
                <a:solidFill>
                  <a:srgbClr val="F5F7FA"/>
                </a:solidFill>
              </a:defRPr>
            </a:pPr>
            <a:r>
              <a:rPr sz="1800" b="0">
                <a:solidFill>
                  <a:srgbClr val="F5F7FA"/>
                </a:solidFill>
              </a:rPr>
              <a:t>Status: DeliveryStatus</a:t>
            </a:r>
          </a:p>
        </p:txBody>
      </p:sp>
      <p:sp>
        <p:nvSpPr>
          <p:cNvPr id="9" name="behavior-label">
            <a:extLst xmlns:a="http://schemas.openxmlformats.org/drawingml/2006/main">
              <a:ext uri="{FF2B5EF4-FFF2-40B4-BE49-F238E27FC236}">
                <a16:creationId xmlns:a16="http://schemas.microsoft.com/office/drawing/2014/main" id="{CCF12CF5-060C-4A18-9E44-AA00DA01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9D3D0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9D3D0"/>
                </a:solidFill>
              </a:defRPr>
            </a:pPr>
            <a:r>
              <a:rPr sz="1125" b="1">
                <a:solidFill>
                  <a:srgbClr val="69D3D0"/>
                </a:solidFill>
              </a:rPr>
              <a:t>COMPORTAMIENTO</a:t>
            </a:r>
          </a:p>
        </p:txBody>
      </p:sp>
      <p:sp>
        <p:nvSpPr>
          <p:cNvPr id="10" name="behavior-title">
            <a:extLst xmlns:a="http://schemas.openxmlformats.org/drawingml/2006/main">
              <a:ext uri="{FF2B5EF4-FFF2-40B4-BE49-F238E27FC236}">
                <a16:creationId xmlns:a16="http://schemas.microsoft.com/office/drawing/2014/main" id="{16BF3D90-CF14-4DC2-B4BF-CCF3C3B9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09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F7FA"/>
                </a:solidFill>
              </a:defRPr>
            </a:pPr>
            <a:r>
              <a:rPr sz="2100" b="1">
                <a:solidFill>
                  <a:srgbClr val="F5F7FA"/>
                </a:solidFill>
              </a:rPr>
              <a:t>AssignCourier(courierId)</a:t>
            </a:r>
          </a:p>
        </p:txBody>
      </p:sp>
      <p:sp>
        <p:nvSpPr>
          <p:cNvPr id="11" name="behavior-copy">
            <a:extLst xmlns:a="http://schemas.openxmlformats.org/drawingml/2006/main">
              <a:ext uri="{FF2B5EF4-FFF2-40B4-BE49-F238E27FC236}">
                <a16:creationId xmlns:a16="http://schemas.microsoft.com/office/drawing/2014/main" id="{A82972DC-848A-453F-A784-77195A26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476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AB6C7"/>
                </a:solidFill>
              </a:defRPr>
            </a:pPr>
            <a:r>
              <a:rPr sz="1500" b="0">
                <a:solidFill>
                  <a:srgbClr val="AAB6C7"/>
                </a:solidFill>
              </a:rPr>
              <a:t>Rechaza si ya existe una asignación activa.</a:t>
            </a:r>
          </a:p>
          <a:p xmlns:a="http://schemas.openxmlformats.org/drawingml/2006/main">
            <a:pPr algn="l">
              <a:defRPr sz="1500" b="0">
                <a:solidFill>
                  <a:srgbClr val="AAB6C7"/>
                </a:solidFill>
              </a:defRPr>
            </a:pPr>
            <a:r>
              <a:rPr sz="1500" b="0">
                <a:solidFill>
                  <a:srgbClr val="AAB6C7"/>
                </a:solidFill>
              </a:rPr>
              <a:t>Si se acepta, guarda el repartidor y cambia el estado.</a:t>
            </a:r>
          </a:p>
        </p:txBody>
      </p:sp>
      <p:sp>
        <p:nvSpPr>
          <p:cNvPr id="12" name="term-band">
            <a:extLst xmlns:a="http://schemas.openxmlformats.org/drawingml/2006/main">
              <a:ext uri="{FF2B5EF4-FFF2-40B4-BE49-F238E27FC236}">
                <a16:creationId xmlns:a16="http://schemas.microsoft.com/office/drawing/2014/main" id="{A4958281-6367-4C39-A6D5-064C8C2A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19575"/>
            <a:ext cx="4667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C2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rm">
            <a:extLst xmlns:a="http://schemas.openxmlformats.org/drawingml/2006/main">
              <a:ext uri="{FF2B5EF4-FFF2-40B4-BE49-F238E27FC236}">
                <a16:creationId xmlns:a16="http://schemas.microsoft.com/office/drawing/2014/main" id="{FB98313E-94C8-40F9-B681-5A5E214F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291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DeliveryId · DeliveryAddress · CourierId</a:t>
            </a:r>
          </a:p>
        </p:txBody>
      </p:sp>
      <p:sp>
        <p:nvSpPr>
          <p:cNvPr id="14" name="vo-note">
            <a:extLst xmlns:a="http://schemas.openxmlformats.org/drawingml/2006/main">
              <a:ext uri="{FF2B5EF4-FFF2-40B4-BE49-F238E27FC236}">
                <a16:creationId xmlns:a16="http://schemas.microsoft.com/office/drawing/2014/main" id="{9AF230D9-D083-4135-996A-76DC5BAA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Objetos inmutables, comparados por valor.</a:t>
            </a:r>
          </a:p>
        </p:txBody>
      </p:sp>
    </p:spTree>
    <p:extLst>
      <p:ext uri="{BB962C8B-B14F-4D97-AF65-F5344CB8AC3E}">
        <p14:creationId xmlns:p14="http://schemas.microsoft.com/office/powerpoint/2010/main" val="131336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88DE7C1E-7A7E-4136-9D97-18609D48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REGLAS DE NEGOCIO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1D81F1-082B-4C08-9D05-3493B9BC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Invariantes y estados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D81BDA11-8375-422C-BF1C-24C9E703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BF15CF-B7CF-4628-BE1E-744D1B97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05</a:t>
            </a:r>
          </a:p>
        </p:txBody>
      </p:sp>
      <p:sp>
        <p:nvSpPr>
          <p:cNvPr id="5" name="invariant-heading">
            <a:extLst xmlns:a="http://schemas.openxmlformats.org/drawingml/2006/main">
              <a:ext uri="{FF2B5EF4-FFF2-40B4-BE49-F238E27FC236}">
                <a16:creationId xmlns:a16="http://schemas.microsoft.com/office/drawing/2014/main" id="{B7D68318-96CD-49D8-8628-1A54147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La asignación solo se confirma si todas las condiciones se cumplen.</a:t>
            </a:r>
          </a:p>
        </p:txBody>
      </p:sp>
      <p:sp>
        <p:nvSpPr>
          <p:cNvPr id="6" name="rule-no-0">
            <a:extLst xmlns:a="http://schemas.openxmlformats.org/drawingml/2006/main">
              <a:ext uri="{FF2B5EF4-FFF2-40B4-BE49-F238E27FC236}">
                <a16:creationId xmlns:a16="http://schemas.microsoft.com/office/drawing/2014/main" id="{B5B9795C-91DD-4ACA-9880-C6374B2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5F467"/>
                </a:solidFill>
              </a:defRPr>
            </a:pPr>
            <a:r>
              <a:rPr sz="1425" b="1">
                <a:solidFill>
                  <a:srgbClr val="C5F467"/>
                </a:solidFill>
              </a:rPr>
              <a:t>01</a:t>
            </a:r>
          </a:p>
        </p:txBody>
      </p:sp>
      <p:sp>
        <p:nvSpPr>
          <p:cNvPr id="7" name="rule-0">
            <a:extLst xmlns:a="http://schemas.openxmlformats.org/drawingml/2006/main">
              <a:ext uri="{FF2B5EF4-FFF2-40B4-BE49-F238E27FC236}">
                <a16:creationId xmlns:a16="http://schemas.microsoft.com/office/drawing/2014/main" id="{D115A4E0-6C68-4FDA-8EA5-401B1BF3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Sin repartidor activo previo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71DC7A29-D2EC-44A3-B70A-B3E65100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no-1">
            <a:extLst xmlns:a="http://schemas.openxmlformats.org/drawingml/2006/main">
              <a:ext uri="{FF2B5EF4-FFF2-40B4-BE49-F238E27FC236}">
                <a16:creationId xmlns:a16="http://schemas.microsoft.com/office/drawing/2014/main" id="{25742B3A-C768-4088-A510-2C44C3E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5F467"/>
                </a:solidFill>
              </a:defRPr>
            </a:pPr>
            <a:r>
              <a:rPr sz="1425" b="1">
                <a:solidFill>
                  <a:srgbClr val="C5F467"/>
                </a:solidFill>
              </a:rPr>
              <a:t>02</a:t>
            </a:r>
          </a:p>
        </p:txBody>
      </p:sp>
      <p:sp>
        <p:nvSpPr>
          <p:cNvPr id="10" name="rule-1">
            <a:extLst xmlns:a="http://schemas.openxmlformats.org/drawingml/2006/main">
              <a:ext uri="{FF2B5EF4-FFF2-40B4-BE49-F238E27FC236}">
                <a16:creationId xmlns:a16="http://schemas.microsoft.com/office/drawing/2014/main" id="{3BED5ECE-9C92-416F-9785-7EC23140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Repartidor disponible</a:t>
            </a:r>
          </a:p>
        </p:txBody>
      </p:sp>
      <p:sp>
        <p:nvSpPr>
          <p:cNvPr id="11" name="divider">
            <a:extLst xmlns:a="http://schemas.openxmlformats.org/drawingml/2006/main">
              <a:ext uri="{FF2B5EF4-FFF2-40B4-BE49-F238E27FC236}">
                <a16:creationId xmlns:a16="http://schemas.microsoft.com/office/drawing/2014/main" id="{CBC10648-CA37-4372-A178-A7FC5D2F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-no-2">
            <a:extLst xmlns:a="http://schemas.openxmlformats.org/drawingml/2006/main">
              <a:ext uri="{FF2B5EF4-FFF2-40B4-BE49-F238E27FC236}">
                <a16:creationId xmlns:a16="http://schemas.microsoft.com/office/drawing/2014/main" id="{299F24FB-E7E6-47E4-B8C0-E1DF73A1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5F467"/>
                </a:solidFill>
              </a:defRPr>
            </a:pPr>
            <a:r>
              <a:rPr sz="1425" b="1">
                <a:solidFill>
                  <a:srgbClr val="C5F467"/>
                </a:solidFill>
              </a:rPr>
              <a:t>03</a:t>
            </a:r>
          </a:p>
        </p:txBody>
      </p:sp>
      <p:sp>
        <p:nvSpPr>
          <p:cNvPr id="13" name="rule-2">
            <a:extLst xmlns:a="http://schemas.openxmlformats.org/drawingml/2006/main">
              <a:ext uri="{FF2B5EF4-FFF2-40B4-BE49-F238E27FC236}">
                <a16:creationId xmlns:a16="http://schemas.microsoft.com/office/drawing/2014/main" id="{D062C7B2-6724-48D7-9971-71DE35F9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Ruta con capacidad</a:t>
            </a:r>
          </a:p>
        </p:txBody>
      </p:sp>
      <p:sp>
        <p:nvSpPr>
          <p:cNvPr id="14" name="divider">
            <a:extLst xmlns:a="http://schemas.openxmlformats.org/drawingml/2006/main">
              <a:ext uri="{FF2B5EF4-FFF2-40B4-BE49-F238E27FC236}">
                <a16:creationId xmlns:a16="http://schemas.microsoft.com/office/drawing/2014/main" id="{0645BC97-84DA-49E3-9CB9-AD1F3CFF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no-3">
            <a:extLst xmlns:a="http://schemas.openxmlformats.org/drawingml/2006/main">
              <a:ext uri="{FF2B5EF4-FFF2-40B4-BE49-F238E27FC236}">
                <a16:creationId xmlns:a16="http://schemas.microsoft.com/office/drawing/2014/main" id="{C69F7CEC-B477-4254-B1E9-70D972DA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5F467"/>
                </a:solidFill>
              </a:defRPr>
            </a:pPr>
            <a:r>
              <a:rPr sz="1425" b="1">
                <a:solidFill>
                  <a:srgbClr val="C5F467"/>
                </a:solidFill>
              </a:rPr>
              <a:t>04</a:t>
            </a:r>
          </a:p>
        </p:txBody>
      </p:sp>
      <p:sp>
        <p:nvSpPr>
          <p:cNvPr id="16" name="rule-3">
            <a:extLst xmlns:a="http://schemas.openxmlformats.org/drawingml/2006/main">
              <a:ext uri="{FF2B5EF4-FFF2-40B4-BE49-F238E27FC236}">
                <a16:creationId xmlns:a16="http://schemas.microsoft.com/office/drawing/2014/main" id="{54CE38EF-4257-433D-A216-60BBF4DE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Persistencia y evento coherentes</a:t>
            </a:r>
          </a:p>
        </p:txBody>
      </p:sp>
      <p:sp>
        <p:nvSpPr>
          <p:cNvPr id="17" name="pending-state">
            <a:extLst xmlns:a="http://schemas.openxmlformats.org/drawingml/2006/main">
              <a:ext uri="{FF2B5EF4-FFF2-40B4-BE49-F238E27FC236}">
                <a16:creationId xmlns:a16="http://schemas.microsoft.com/office/drawing/2014/main" id="{EC5AC551-86F7-410F-A058-3A05B7FD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C2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ending-label">
            <a:extLst xmlns:a="http://schemas.openxmlformats.org/drawingml/2006/main">
              <a:ext uri="{FF2B5EF4-FFF2-40B4-BE49-F238E27FC236}">
                <a16:creationId xmlns:a16="http://schemas.microsoft.com/office/drawing/2014/main" id="{8BF71497-2497-4739-BB0E-2BD1C2D6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86075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Pending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254D5E09-1C82-497A-B66B-B6C68FDB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6705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ssigned-state">
            <a:extLst xmlns:a="http://schemas.openxmlformats.org/drawingml/2006/main">
              <a:ext uri="{FF2B5EF4-FFF2-40B4-BE49-F238E27FC236}">
                <a16:creationId xmlns:a16="http://schemas.microsoft.com/office/drawing/2014/main" id="{81677D79-18A3-4509-B9A6-4B495684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81300"/>
            <a:ext cx="14763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ssigned-label">
            <a:extLst xmlns:a="http://schemas.openxmlformats.org/drawingml/2006/main">
              <a:ext uri="{FF2B5EF4-FFF2-40B4-BE49-F238E27FC236}">
                <a16:creationId xmlns:a16="http://schemas.microsoft.com/office/drawing/2014/main" id="{0AFA6EC8-F1B8-44E0-825C-28BDB86B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8607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B1220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Assigned</a:t>
            </a:r>
          </a:p>
        </p:txBody>
      </p:sp>
      <p:sp>
        <p:nvSpPr>
          <p:cNvPr id="22" name="transition-caption">
            <a:extLst xmlns:a="http://schemas.openxmlformats.org/drawingml/2006/main">
              <a:ext uri="{FF2B5EF4-FFF2-40B4-BE49-F238E27FC236}">
                <a16:creationId xmlns:a16="http://schemas.microsoft.com/office/drawing/2014/main" id="{0639F92B-C7F4-4104-9EF9-EFB66099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AAB6C7"/>
                </a:solidFill>
              </a:defRPr>
            </a:pPr>
            <a:r>
              <a:rPr sz="1200" b="0">
                <a:solidFill>
                  <a:srgbClr val="AAB6C7"/>
                </a:solidFill>
              </a:rPr>
              <a:t>Elegible + ruta disponible</a:t>
            </a:r>
          </a:p>
        </p:txBody>
      </p:sp>
      <p:sp>
        <p:nvSpPr>
          <p:cNvPr id="23" name="blocked-caption">
            <a:extLst xmlns:a="http://schemas.openxmlformats.org/drawingml/2006/main">
              <a:ext uri="{FF2B5EF4-FFF2-40B4-BE49-F238E27FC236}">
                <a16:creationId xmlns:a16="http://schemas.microsoft.com/office/drawing/2014/main" id="{E6F33F30-8965-4389-AC2C-98AB9487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8B7B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8B7B"/>
                </a:solidFill>
              </a:defRPr>
            </a:pPr>
            <a:r>
              <a:rPr sz="1350" b="1">
                <a:solidFill>
                  <a:srgbClr val="FF8B7B"/>
                </a:solidFill>
              </a:rPr>
              <a:t>Rechazo: Pending permanece igual</a:t>
            </a:r>
          </a:p>
        </p:txBody>
      </p:sp>
    </p:spTree>
    <p:extLst>
      <p:ext uri="{BB962C8B-B14F-4D97-AF65-F5344CB8AC3E}">
        <p14:creationId xmlns:p14="http://schemas.microsoft.com/office/powerpoint/2010/main" val="88077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5E7AE5D2-5187-4BC4-BF69-377AD815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BDD · DADO / CUANDO / ENTONCES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AB9A69-08A3-4841-B3D3-2305EB87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Escenarios de aceptación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3B68B573-0406-4270-888C-C1E69E50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9F423F-535B-4AA8-B616-B7BAA1FD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06</a:t>
            </a:r>
          </a:p>
        </p:txBody>
      </p:sp>
      <p:sp>
        <p:nvSpPr>
          <p:cNvPr id="5" name="success-tag">
            <a:extLst xmlns:a="http://schemas.openxmlformats.org/drawingml/2006/main">
              <a:ext uri="{FF2B5EF4-FFF2-40B4-BE49-F238E27FC236}">
                <a16:creationId xmlns:a16="http://schemas.microsoft.com/office/drawing/2014/main" id="{56098F03-8863-4EAB-A9E0-C131995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5F467"/>
                </a:solidFill>
              </a:defRPr>
            </a:pPr>
            <a:r>
              <a:rPr sz="1125" b="1">
                <a:solidFill>
                  <a:srgbClr val="C5F467"/>
                </a:solidFill>
              </a:rPr>
              <a:t>ASIGNACIÓN EXITOSA</a:t>
            </a:r>
          </a:p>
        </p:txBody>
      </p:sp>
      <p:sp>
        <p:nvSpPr>
          <p:cNvPr id="6" name="success-flow">
            <a:extLst xmlns:a="http://schemas.openxmlformats.org/drawingml/2006/main">
              <a:ext uri="{FF2B5EF4-FFF2-40B4-BE49-F238E27FC236}">
                <a16:creationId xmlns:a16="http://schemas.microsoft.com/office/drawing/2014/main" id="{DDD5D32D-80DC-47E6-AE9F-95871CD0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66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Dado una entrega pendiente sin repartidor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Y un repartidor disponible y una ruta con capacidad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Cuando se ejecuta AssignCourierUseCase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Entonces queda asignada y cambia a Assigned</a:t>
            </a:r>
          </a:p>
          <a:p xmlns:a="http://schemas.openxmlformats.org/drawingml/2006/main">
            <a:pPr algn="l">
              <a:defRPr sz="1650" b="0">
                <a:solidFill>
                  <a:srgbClr val="F5F7FA"/>
                </a:solidFill>
              </a:defRPr>
            </a:pPr>
            <a:r>
              <a:rPr sz="1650" b="0">
                <a:solidFill>
                  <a:srgbClr val="F5F7FA"/>
                </a:solidFill>
              </a:rPr>
              <a:t>Y se registra DeliveryAssigned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B0E6FB55-1E12-4F45-9B7D-3D81E1E7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jection-tag">
            <a:extLst xmlns:a="http://schemas.openxmlformats.org/drawingml/2006/main">
              <a:ext uri="{FF2B5EF4-FFF2-40B4-BE49-F238E27FC236}">
                <a16:creationId xmlns:a16="http://schemas.microsoft.com/office/drawing/2014/main" id="{354B4128-9FD4-4623-9471-05DCE56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9D3D0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9D3D0"/>
                </a:solidFill>
              </a:defRPr>
            </a:pPr>
            <a:r>
              <a:rPr sz="1125" b="1">
                <a:solidFill>
                  <a:srgbClr val="69D3D0"/>
                </a:solidFill>
              </a:rPr>
              <a:t>REGLA PROTEGIDA</a:t>
            </a:r>
          </a:p>
        </p:txBody>
      </p:sp>
      <p:sp>
        <p:nvSpPr>
          <p:cNvPr id="9" name="rejection-flow">
            <a:extLst xmlns:a="http://schemas.openxmlformats.org/drawingml/2006/main">
              <a:ext uri="{FF2B5EF4-FFF2-40B4-BE49-F238E27FC236}">
                <a16:creationId xmlns:a16="http://schemas.microsoft.com/office/drawing/2014/main" id="{CC8D4126-EFC0-45E5-9980-7987EC9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Si ya hay un repartidor activo,</a:t>
            </a:r>
          </a:p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la operación se rechaza.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La asignación original no cambia</a:t>
            </a:r>
          </a:p>
          <a:p xmlns:a="http://schemas.openxmlformats.org/drawingml/2006/main">
            <a:pPr algn="l">
              <a:defRPr sz="1575" b="0">
                <a:solidFill>
                  <a:srgbClr val="F5F7FA"/>
                </a:solidFill>
              </a:defRPr>
            </a:pPr>
            <a:r>
              <a:rPr sz="1575" b="0">
                <a:solidFill>
                  <a:srgbClr val="F5F7FA"/>
                </a:solidFill>
              </a:rPr>
              <a:t>y no se registra una nueva asignación.</a:t>
            </a:r>
          </a:p>
        </p:txBody>
      </p:sp>
      <p:sp>
        <p:nvSpPr>
          <p:cNvPr id="10" name="more-cases">
            <a:extLst xmlns:a="http://schemas.openxmlformats.org/drawingml/2006/main">
              <a:ext uri="{FF2B5EF4-FFF2-40B4-BE49-F238E27FC236}">
                <a16:creationId xmlns:a16="http://schemas.microsoft.com/office/drawing/2014/main" id="{8B630D09-65C0-4273-9111-B1CF0A01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Otros rechazos: repartidor no disponible · ruta saturada</a:t>
            </a:r>
          </a:p>
        </p:txBody>
      </p:sp>
    </p:spTree>
    <p:extLst>
      <p:ext uri="{BB962C8B-B14F-4D97-AF65-F5344CB8AC3E}">
        <p14:creationId xmlns:p14="http://schemas.microsoft.com/office/powerpoint/2010/main" val="1243654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">
            <a:extLst xmlns:a="http://schemas.openxmlformats.org/drawingml/2006/main">
              <a:ext uri="{FF2B5EF4-FFF2-40B4-BE49-F238E27FC236}">
                <a16:creationId xmlns:a16="http://schemas.microsoft.com/office/drawing/2014/main" id="{08DF662F-F83E-480B-9489-C318A40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COORDINACIÓN Y CONTRATOS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31E3B0-C1DA-4E61-9295-9038A64E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AssignCourierUseCase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C98AF90C-6265-4186-9CE2-F65E6A6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EE2425-D81B-4B9D-AF7D-4D31B602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07</a:t>
            </a:r>
          </a:p>
        </p:txBody>
      </p:sp>
      <p:sp>
        <p:nvSpPr>
          <p:cNvPr id="5" name="seq-n-0">
            <a:extLst xmlns:a="http://schemas.openxmlformats.org/drawingml/2006/main">
              <a:ext uri="{FF2B5EF4-FFF2-40B4-BE49-F238E27FC236}">
                <a16:creationId xmlns:a16="http://schemas.microsoft.com/office/drawing/2014/main" id="{6B29A76D-3038-402C-A720-76E95165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1</a:t>
            </a:r>
          </a:p>
        </p:txBody>
      </p:sp>
      <p:sp>
        <p:nvSpPr>
          <p:cNvPr id="6" name="seq-title-0">
            <a:extLst xmlns:a="http://schemas.openxmlformats.org/drawingml/2006/main">
              <a:ext uri="{FF2B5EF4-FFF2-40B4-BE49-F238E27FC236}">
                <a16:creationId xmlns:a16="http://schemas.microsoft.com/office/drawing/2014/main" id="{D0180632-8CA6-46D9-BD38-4463E25E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192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Cargar entrega</a:t>
            </a:r>
          </a:p>
        </p:txBody>
      </p:sp>
      <p:sp>
        <p:nvSpPr>
          <p:cNvPr id="7" name="seq-port-0">
            <a:extLst xmlns:a="http://schemas.openxmlformats.org/drawingml/2006/main">
              <a:ext uri="{FF2B5EF4-FFF2-40B4-BE49-F238E27FC236}">
                <a16:creationId xmlns:a16="http://schemas.microsoft.com/office/drawing/2014/main" id="{8F4CD298-61C6-4A01-95E7-053969D7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288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IDeliveryRepository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F5438D64-25D0-44FB-825A-64E87CCC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52725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q-n-1">
            <a:extLst xmlns:a="http://schemas.openxmlformats.org/drawingml/2006/main">
              <a:ext uri="{FF2B5EF4-FFF2-40B4-BE49-F238E27FC236}">
                <a16:creationId xmlns:a16="http://schemas.microsoft.com/office/drawing/2014/main" id="{72108E75-6024-4FD5-AB75-02795B19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2</a:t>
            </a:r>
          </a:p>
        </p:txBody>
      </p:sp>
      <p:sp>
        <p:nvSpPr>
          <p:cNvPr id="10" name="seq-title-1">
            <a:extLst xmlns:a="http://schemas.openxmlformats.org/drawingml/2006/main">
              <a:ext uri="{FF2B5EF4-FFF2-40B4-BE49-F238E27FC236}">
                <a16:creationId xmlns:a16="http://schemas.microsoft.com/office/drawing/2014/main" id="{34FAC551-5342-4B3E-AF85-908ED4CB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Validar repartidor</a:t>
            </a:r>
          </a:p>
        </p:txBody>
      </p:sp>
      <p:sp>
        <p:nvSpPr>
          <p:cNvPr id="11" name="seq-port-1">
            <a:extLst xmlns:a="http://schemas.openxmlformats.org/drawingml/2006/main">
              <a:ext uri="{FF2B5EF4-FFF2-40B4-BE49-F238E27FC236}">
                <a16:creationId xmlns:a16="http://schemas.microsoft.com/office/drawing/2014/main" id="{133B6BF3-5A14-4D21-A601-F118B373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ICourierAvailability</a:t>
            </a:r>
          </a:p>
        </p:txBody>
      </p:sp>
      <p:sp>
        <p:nvSpPr>
          <p:cNvPr id="12" name="divider">
            <a:extLst xmlns:a="http://schemas.openxmlformats.org/drawingml/2006/main">
              <a:ext uri="{FF2B5EF4-FFF2-40B4-BE49-F238E27FC236}">
                <a16:creationId xmlns:a16="http://schemas.microsoft.com/office/drawing/2014/main" id="{D57B0776-56BE-45B5-8788-047B1C5A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q-n-2">
            <a:extLst xmlns:a="http://schemas.openxmlformats.org/drawingml/2006/main">
              <a:ext uri="{FF2B5EF4-FFF2-40B4-BE49-F238E27FC236}">
                <a16:creationId xmlns:a16="http://schemas.microsoft.com/office/drawing/2014/main" id="{BCD8D423-1C91-4939-B91C-C47EAA1D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3</a:t>
            </a:r>
          </a:p>
        </p:txBody>
      </p:sp>
      <p:sp>
        <p:nvSpPr>
          <p:cNvPr id="14" name="seq-title-2">
            <a:extLst xmlns:a="http://schemas.openxmlformats.org/drawingml/2006/main">
              <a:ext uri="{FF2B5EF4-FFF2-40B4-BE49-F238E27FC236}">
                <a16:creationId xmlns:a16="http://schemas.microsoft.com/office/drawing/2014/main" id="{89CEF563-5F44-4ABD-B807-B7C6F82E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672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Validar capacidad</a:t>
            </a:r>
          </a:p>
        </p:txBody>
      </p:sp>
      <p:sp>
        <p:nvSpPr>
          <p:cNvPr id="15" name="seq-port-2">
            <a:extLst xmlns:a="http://schemas.openxmlformats.org/drawingml/2006/main">
              <a:ext uri="{FF2B5EF4-FFF2-40B4-BE49-F238E27FC236}">
                <a16:creationId xmlns:a16="http://schemas.microsoft.com/office/drawing/2014/main" id="{885A718F-81BC-49F9-A4E5-03BA346F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IRouteCapacity</a:t>
            </a:r>
          </a:p>
        </p:txBody>
      </p:sp>
      <p:sp>
        <p:nvSpPr>
          <p:cNvPr id="16" name="seq-n-3">
            <a:extLst xmlns:a="http://schemas.openxmlformats.org/drawingml/2006/main">
              <a:ext uri="{FF2B5EF4-FFF2-40B4-BE49-F238E27FC236}">
                <a16:creationId xmlns:a16="http://schemas.microsoft.com/office/drawing/2014/main" id="{754F4508-AB74-4CA8-92F7-67724A99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1927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4</a:t>
            </a:r>
          </a:p>
        </p:txBody>
      </p:sp>
      <p:sp>
        <p:nvSpPr>
          <p:cNvPr id="17" name="seq-title-3">
            <a:extLst xmlns:a="http://schemas.openxmlformats.org/drawingml/2006/main">
              <a:ext uri="{FF2B5EF4-FFF2-40B4-BE49-F238E27FC236}">
                <a16:creationId xmlns:a16="http://schemas.microsoft.com/office/drawing/2014/main" id="{80165171-C688-4059-A608-5B70B09C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192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Aplicar invariante</a:t>
            </a:r>
          </a:p>
        </p:txBody>
      </p:sp>
      <p:sp>
        <p:nvSpPr>
          <p:cNvPr id="18" name="seq-port-3">
            <a:extLst xmlns:a="http://schemas.openxmlformats.org/drawingml/2006/main">
              <a:ext uri="{FF2B5EF4-FFF2-40B4-BE49-F238E27FC236}">
                <a16:creationId xmlns:a16="http://schemas.microsoft.com/office/drawing/2014/main" id="{DD4E60B2-9553-4FB2-85CF-C727168D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288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Delivery.AssignCourier</a:t>
            </a:r>
          </a:p>
        </p:txBody>
      </p:sp>
      <p:sp>
        <p:nvSpPr>
          <p:cNvPr id="19" name="divider">
            <a:extLst xmlns:a="http://schemas.openxmlformats.org/drawingml/2006/main">
              <a:ext uri="{FF2B5EF4-FFF2-40B4-BE49-F238E27FC236}">
                <a16:creationId xmlns:a16="http://schemas.microsoft.com/office/drawing/2014/main" id="{69AA8427-F485-4F91-ADCF-F8A64190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52725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q-n-4">
            <a:extLst xmlns:a="http://schemas.openxmlformats.org/drawingml/2006/main">
              <a:ext uri="{FF2B5EF4-FFF2-40B4-BE49-F238E27FC236}">
                <a16:creationId xmlns:a16="http://schemas.microsoft.com/office/drawing/2014/main" id="{BBFD6E5F-02DF-431B-B2A7-F38B5777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5</a:t>
            </a:r>
          </a:p>
        </p:txBody>
      </p:sp>
      <p:sp>
        <p:nvSpPr>
          <p:cNvPr id="21" name="seq-title-4">
            <a:extLst xmlns:a="http://schemas.openxmlformats.org/drawingml/2006/main">
              <a:ext uri="{FF2B5EF4-FFF2-40B4-BE49-F238E27FC236}">
                <a16:creationId xmlns:a16="http://schemas.microsoft.com/office/drawing/2014/main" id="{9454FB85-B445-43DE-B914-AE69DEE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Guardar</a:t>
            </a:r>
          </a:p>
        </p:txBody>
      </p:sp>
      <p:sp>
        <p:nvSpPr>
          <p:cNvPr id="22" name="seq-port-4">
            <a:extLst xmlns:a="http://schemas.openxmlformats.org/drawingml/2006/main">
              <a:ext uri="{FF2B5EF4-FFF2-40B4-BE49-F238E27FC236}">
                <a16:creationId xmlns:a16="http://schemas.microsoft.com/office/drawing/2014/main" id="{2AA1AE54-7098-4AEA-9194-7BD91D80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IDeliveryRepository</a:t>
            </a:r>
          </a:p>
        </p:txBody>
      </p:sp>
      <p:sp>
        <p:nvSpPr>
          <p:cNvPr id="23" name="divider">
            <a:extLst xmlns:a="http://schemas.openxmlformats.org/drawingml/2006/main">
              <a:ext uri="{FF2B5EF4-FFF2-40B4-BE49-F238E27FC236}">
                <a16:creationId xmlns:a16="http://schemas.microsoft.com/office/drawing/2014/main" id="{54CF75BB-4F42-4573-BFEB-F87295C2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eq-n-5">
            <a:extLst xmlns:a="http://schemas.openxmlformats.org/drawingml/2006/main">
              <a:ext uri="{FF2B5EF4-FFF2-40B4-BE49-F238E27FC236}">
                <a16:creationId xmlns:a16="http://schemas.microsoft.com/office/drawing/2014/main" id="{7F5271F1-6244-4C54-9640-C61C8085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672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6</a:t>
            </a:r>
          </a:p>
        </p:txBody>
      </p:sp>
      <p:sp>
        <p:nvSpPr>
          <p:cNvPr id="25" name="seq-title-5">
            <a:extLst xmlns:a="http://schemas.openxmlformats.org/drawingml/2006/main">
              <a:ext uri="{FF2B5EF4-FFF2-40B4-BE49-F238E27FC236}">
                <a16:creationId xmlns:a16="http://schemas.microsoft.com/office/drawing/2014/main" id="{4B953ADA-99DE-4914-91A0-6CC17CB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672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Registrar evento</a:t>
            </a:r>
          </a:p>
        </p:txBody>
      </p:sp>
      <p:sp>
        <p:nvSpPr>
          <p:cNvPr id="26" name="seq-port-5">
            <a:extLst xmlns:a="http://schemas.openxmlformats.org/drawingml/2006/main">
              <a:ext uri="{FF2B5EF4-FFF2-40B4-BE49-F238E27FC236}">
                <a16:creationId xmlns:a16="http://schemas.microsoft.com/office/drawing/2014/main" id="{C4E7600C-3DA7-442E-8EA9-7B72D1AC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IAssignmentEvents</a:t>
            </a:r>
          </a:p>
        </p:txBody>
      </p:sp>
      <p:sp>
        <p:nvSpPr>
          <p:cNvPr id="27" name="sequence-note">
            <a:extLst xmlns:a="http://schemas.openxmlformats.org/drawingml/2006/main">
              <a:ext uri="{FF2B5EF4-FFF2-40B4-BE49-F238E27FC236}">
                <a16:creationId xmlns:a16="http://schemas.microsoft.com/office/drawing/2014/main" id="{6F582B30-5E34-4B38-8E93-FF330FD8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9D3D0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9D3D0"/>
                </a:solidFill>
              </a:defRPr>
            </a:pPr>
            <a:r>
              <a:rPr sz="1275" b="0">
                <a:solidFill>
                  <a:srgbClr val="69D3D0"/>
                </a:solidFill>
              </a:rPr>
              <a:t>El caso de uso recibe sus dependencias por constructor. El evento requiere persistencia confiable (outbox por evaluar en Actividad 4).</a:t>
            </a:r>
          </a:p>
        </p:txBody>
      </p:sp>
    </p:spTree>
    <p:extLst>
      <p:ext uri="{BB962C8B-B14F-4D97-AF65-F5344CB8AC3E}">
        <p14:creationId xmlns:p14="http://schemas.microsoft.com/office/powerpoint/2010/main" val="1203716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9AA9B8A5-0CC6-4C0C-ADB6-BE854AEB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DEPENDENCIAS HACIA EL CENTRO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380619-0E31-4127-9F3E-ECD16E9E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Arquitectura Onion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8E1281B4-D601-4260-AAAF-60A95E25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0D589E-6BD0-437E-87E9-DB9FCF1C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08</a:t>
            </a:r>
          </a:p>
        </p:txBody>
      </p:sp>
      <p:sp>
        <p:nvSpPr>
          <p:cNvPr id="5" name="onion-outer">
            <a:extLst xmlns:a="http://schemas.openxmlformats.org/drawingml/2006/main">
              <a:ext uri="{FF2B5EF4-FFF2-40B4-BE49-F238E27FC236}">
                <a16:creationId xmlns:a16="http://schemas.microsoft.com/office/drawing/2014/main" id="{A51EE7D7-FBCC-4E09-B625-39BBE211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857750" cy="485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nion-adapters">
            <a:extLst xmlns:a="http://schemas.openxmlformats.org/drawingml/2006/main">
              <a:ext uri="{FF2B5EF4-FFF2-40B4-BE49-F238E27FC236}">
                <a16:creationId xmlns:a16="http://schemas.microsoft.com/office/drawing/2014/main" id="{5ABE4F30-84F0-4E98-9831-E032D576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76475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nion-application">
            <a:extLst xmlns:a="http://schemas.openxmlformats.org/drawingml/2006/main">
              <a:ext uri="{FF2B5EF4-FFF2-40B4-BE49-F238E27FC236}">
                <a16:creationId xmlns:a16="http://schemas.microsoft.com/office/drawing/2014/main" id="{1C09A6E5-7E86-427B-926B-DB2C26AB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003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nion-domain">
            <a:extLst xmlns:a="http://schemas.openxmlformats.org/drawingml/2006/main">
              <a:ext uri="{FF2B5EF4-FFF2-40B4-BE49-F238E27FC236}">
                <a16:creationId xmlns:a16="http://schemas.microsoft.com/office/drawing/2014/main" id="{B866CB08-A63C-4DEE-8200-FF698B8C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52800"/>
            <a:ext cx="165735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uter-label">
            <a:extLst xmlns:a="http://schemas.openxmlformats.org/drawingml/2006/main">
              <a:ext uri="{FF2B5EF4-FFF2-40B4-BE49-F238E27FC236}">
                <a16:creationId xmlns:a16="http://schemas.microsoft.com/office/drawing/2014/main" id="{C0BAB17D-2037-4965-ADC3-4956EBDC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288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5F7FA"/>
                </a:solidFill>
              </a:defRPr>
            </a:pPr>
            <a:r>
              <a:rPr sz="1125" b="1">
                <a:solidFill>
                  <a:srgbClr val="F5F7FA"/>
                </a:solidFill>
              </a:rPr>
              <a:t>INFRAESTRUCTURA + PRESENTACIÓN</a:t>
            </a:r>
          </a:p>
        </p:txBody>
      </p:sp>
      <p:sp>
        <p:nvSpPr>
          <p:cNvPr id="10" name="application-label">
            <a:extLst xmlns:a="http://schemas.openxmlformats.org/drawingml/2006/main">
              <a:ext uri="{FF2B5EF4-FFF2-40B4-BE49-F238E27FC236}">
                <a16:creationId xmlns:a16="http://schemas.microsoft.com/office/drawing/2014/main" id="{9F6F358A-7A99-4339-ABEC-EDFB3C82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62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5F7FA"/>
                </a:solidFill>
              </a:defRPr>
            </a:pPr>
            <a:r>
              <a:rPr sz="1125" b="1">
                <a:solidFill>
                  <a:srgbClr val="F5F7FA"/>
                </a:solidFill>
              </a:rPr>
              <a:t>APLICACIÓN · CASOS DE USO + PUERTOS</a:t>
            </a:r>
          </a:p>
        </p:txBody>
      </p:sp>
      <p:sp>
        <p:nvSpPr>
          <p:cNvPr id="11" name="domain-services-label">
            <a:extLst xmlns:a="http://schemas.openxmlformats.org/drawingml/2006/main">
              <a:ext uri="{FF2B5EF4-FFF2-40B4-BE49-F238E27FC236}">
                <a16:creationId xmlns:a16="http://schemas.microsoft.com/office/drawing/2014/main" id="{63DFE45D-EE99-454F-A37A-551C89DE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860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69D3D0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9D3D0"/>
                </a:solidFill>
              </a:defRPr>
            </a:pPr>
            <a:r>
              <a:rPr sz="1050" b="1">
                <a:solidFill>
                  <a:srgbClr val="69D3D0"/>
                </a:solidFill>
              </a:rPr>
              <a:t>SERVICIOS / POLÍTICAS DE DOMINIO</a:t>
            </a:r>
          </a:p>
        </p:txBody>
      </p:sp>
      <p:sp>
        <p:nvSpPr>
          <p:cNvPr id="12" name="domain-label">
            <a:extLst xmlns:a="http://schemas.openxmlformats.org/drawingml/2006/main">
              <a:ext uri="{FF2B5EF4-FFF2-40B4-BE49-F238E27FC236}">
                <a16:creationId xmlns:a16="http://schemas.microsoft.com/office/drawing/2014/main" id="{9FFF7C01-0515-49B1-AE03-3506A6F7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33800"/>
            <a:ext cx="1504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1220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MODELO DE DOMINIO</a:t>
            </a:r>
          </a:p>
          <a:p xmlns:a="http://schemas.openxmlformats.org/drawingml/2006/main">
            <a:pPr algn="ctr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Delivery · invariantes</a:t>
            </a:r>
          </a:p>
        </p:txBody>
      </p:sp>
      <p:sp>
        <p:nvSpPr>
          <p:cNvPr id="13" name="onion-explanation">
            <a:extLst xmlns:a="http://schemas.openxmlformats.org/drawingml/2006/main">
              <a:ext uri="{FF2B5EF4-FFF2-40B4-BE49-F238E27FC236}">
                <a16:creationId xmlns:a16="http://schemas.microsoft.com/office/drawing/2014/main" id="{65F1BAF9-0C9E-4E08-8396-3A479DB0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5F467"/>
                </a:solidFill>
              </a:defRPr>
            </a:pPr>
            <a:r>
              <a:rPr sz="1125" b="1">
                <a:solidFill>
                  <a:srgbClr val="C5F467"/>
                </a:solidFill>
              </a:rPr>
              <a:t>LAS CAPAS</a:t>
            </a:r>
          </a:p>
        </p:txBody>
      </p:sp>
      <p:sp>
        <p:nvSpPr>
          <p:cNvPr id="14" name="onion-list">
            <a:extLst xmlns:a="http://schemas.openxmlformats.org/drawingml/2006/main">
              <a:ext uri="{FF2B5EF4-FFF2-40B4-BE49-F238E27FC236}">
                <a16:creationId xmlns:a16="http://schemas.microsoft.com/office/drawing/2014/main" id="{1175F1BF-F1B2-4CEF-AB23-914529E8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Centro  ·  Delivery, objetos de valor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Dominio  ·  reglas y políticas del negocio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Aplicación  ·  AssignCourierUseCase y puertos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Borde  ·  adaptadores, API e infraestructura</a:t>
            </a:r>
          </a:p>
        </p:txBody>
      </p:sp>
      <p:sp>
        <p:nvSpPr>
          <p:cNvPr id="15" name="divider">
            <a:extLst xmlns:a="http://schemas.openxmlformats.org/drawingml/2006/main">
              <a:ext uri="{FF2B5EF4-FFF2-40B4-BE49-F238E27FC236}">
                <a16:creationId xmlns:a16="http://schemas.microsoft.com/office/drawing/2014/main" id="{D2B2FC1D-1921-46F0-8D71-0052EF4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96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4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pendency-note">
            <a:extLst xmlns:a="http://schemas.openxmlformats.org/drawingml/2006/main">
              <a:ext uri="{FF2B5EF4-FFF2-40B4-BE49-F238E27FC236}">
                <a16:creationId xmlns:a16="http://schemas.microsoft.com/office/drawing/2014/main" id="{A831430E-9DB7-4BF3-85FA-A98A9B0C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864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AB6C7"/>
                </a:solidFill>
              </a:defRPr>
            </a:pPr>
            <a:r>
              <a:rPr sz="1350" b="0">
                <a:solidFill>
                  <a:srgbClr val="AAB6C7"/>
                </a:solidFill>
              </a:rPr>
              <a:t>Los adaptadores externos implementan puertos internos. Las dependencias de código apuntan al centro.</a:t>
            </a:r>
          </a:p>
        </p:txBody>
      </p:sp>
    </p:spTree>
    <p:extLst>
      <p:ext uri="{BB962C8B-B14F-4D97-AF65-F5344CB8AC3E}">
        <p14:creationId xmlns:p14="http://schemas.microsoft.com/office/powerpoint/2010/main" val="1165701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72B5DD88-7889-4FA4-AA7A-18B53B93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5F467"/>
                </a:solidFill>
              </a:defRPr>
            </a:pPr>
            <a:r>
              <a:rPr sz="1050" b="1">
                <a:solidFill>
                  <a:srgbClr val="C5F467"/>
                </a:solidFill>
              </a:rPr>
              <a:t>JUSTIFICACIÓN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6CDC62-755E-4BAA-8843-0CF762B4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Decisión de diseño · ADR-001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71AACACD-0D18-4029-BCF7-C1196E0A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CC485B-F671-41CB-A652-2D5C4F99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AB6C7"/>
                </a:solidFill>
              </a:defRPr>
            </a:pPr>
            <a:r>
              <a:rPr sz="1050" b="1">
                <a:solidFill>
                  <a:srgbClr val="AAB6C7"/>
                </a:solidFill>
              </a:rPr>
              <a:t>09</a:t>
            </a:r>
          </a:p>
        </p:txBody>
      </p:sp>
      <p:sp>
        <p:nvSpPr>
          <p:cNvPr id="5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FF6BA6E0-238B-4F80-84DC-4E0061F5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5F467"/>
                </a:solidFill>
              </a:defRPr>
            </a:pPr>
            <a:r>
              <a:rPr sz="1125" b="1">
                <a:solidFill>
                  <a:srgbClr val="C5F467"/>
                </a:solidFill>
              </a:rPr>
              <a:t>DECISIÓN</a:t>
            </a:r>
          </a:p>
        </p:txBody>
      </p:sp>
      <p:sp>
        <p:nvSpPr>
          <p:cNvPr id="6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6B326511-77ED-4F24-85AD-842ACE64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14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F7FA"/>
                </a:solidFill>
              </a:defRPr>
            </a:pPr>
            <a:r>
              <a:rPr sz="2100" b="1">
                <a:solidFill>
                  <a:srgbClr val="F5F7FA"/>
                </a:solidFill>
              </a:rPr>
              <a:t>Proteger la regla en Delivery y coordinar el flujo con puertos de aplicación.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04D93F18-28A0-4BD4-84F1-D9A2487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lternatives-label">
            <a:extLst xmlns:a="http://schemas.openxmlformats.org/drawingml/2006/main">
              <a:ext uri="{FF2B5EF4-FFF2-40B4-BE49-F238E27FC236}">
                <a16:creationId xmlns:a16="http://schemas.microsoft.com/office/drawing/2014/main" id="{0F3879D9-08D1-4B17-87FA-57920F2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9D3D0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9D3D0"/>
                </a:solidFill>
              </a:defRPr>
            </a:pPr>
            <a:r>
              <a:rPr sz="1125" b="1">
                <a:solidFill>
                  <a:srgbClr val="69D3D0"/>
                </a:solidFill>
              </a:rPr>
              <a:t>ALTERNATIVAS DESCARTADAS</a:t>
            </a:r>
          </a:p>
        </p:txBody>
      </p:sp>
      <p:sp>
        <p:nvSpPr>
          <p:cNvPr id="9" name="alternatives">
            <a:extLst xmlns:a="http://schemas.openxmlformats.org/drawingml/2006/main">
              <a:ext uri="{FF2B5EF4-FFF2-40B4-BE49-F238E27FC236}">
                <a16:creationId xmlns:a16="http://schemas.microsoft.com/office/drawing/2014/main" id="{38478650-1835-49BA-A7FD-C6D4B6C6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F5F7FA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Reglas en el controlador → acopla el negocio al transporte</a:t>
            </a:r>
          </a:p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Reglas en el ORM → acopla el negocio a la persistencia</a:t>
            </a:r>
          </a:p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Microservicios desde el inicio → más coordinación antes de validar límites</a:t>
            </a:r>
          </a:p>
        </p:txBody>
      </p:sp>
      <p:sp>
        <p:nvSpPr>
          <p:cNvPr id="10" name="tradeoff-label">
            <a:extLst xmlns:a="http://schemas.openxmlformats.org/drawingml/2006/main">
              <a:ext uri="{FF2B5EF4-FFF2-40B4-BE49-F238E27FC236}">
                <a16:creationId xmlns:a16="http://schemas.microsoft.com/office/drawing/2014/main" id="{4B11B278-450A-4E03-A796-B659E6EF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8B7B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FF8B7B"/>
                </a:solidFill>
              </a:defRPr>
            </a:pPr>
            <a:r>
              <a:rPr sz="1125" b="1">
                <a:solidFill>
                  <a:srgbClr val="FF8B7B"/>
                </a:solidFill>
              </a:rPr>
              <a:t>COSTO A GESTIONAR</a:t>
            </a:r>
          </a:p>
        </p:txBody>
      </p:sp>
      <p:sp>
        <p:nvSpPr>
          <p:cNvPr id="11" name="tradeoff">
            <a:extLst xmlns:a="http://schemas.openxmlformats.org/drawingml/2006/main">
              <a:ext uri="{FF2B5EF4-FFF2-40B4-BE49-F238E27FC236}">
                <a16:creationId xmlns:a16="http://schemas.microsoft.com/office/drawing/2014/main" id="{37E261AE-4603-4018-BCBD-18065590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3200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AAB6C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Más contratos y mapeos.</a:t>
            </a:r>
          </a:p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Revalidar disponibilidad/capacidad</a:t>
            </a:r>
          </a:p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para evitar carreras; usar outbox</a:t>
            </a:r>
          </a:p>
          <a:p xmlns:a="http://schemas.openxmlformats.org/drawingml/2006/main">
            <a:pPr algn="l">
              <a:defRPr sz="1425" b="0">
                <a:solidFill>
                  <a:srgbClr val="AAB6C7"/>
                </a:solidFill>
              </a:defRPr>
            </a:pPr>
            <a:r>
              <a:rPr sz="1425" b="0">
                <a:solidFill>
                  <a:srgbClr val="AAB6C7"/>
                </a:solidFill>
              </a:rPr>
              <a:t>para entregar eventos con fiabilidad.</a:t>
            </a:r>
          </a:p>
        </p:txBody>
      </p:sp>
      <p:sp>
        <p:nvSpPr>
          <p:cNvPr id="12" name="next-step">
            <a:extLst xmlns:a="http://schemas.openxmlformats.org/drawingml/2006/main">
              <a:ext uri="{FF2B5EF4-FFF2-40B4-BE49-F238E27FC236}">
                <a16:creationId xmlns:a16="http://schemas.microsoft.com/office/drawing/2014/main" id="{83E0D9CA-F94D-4AFE-9306-C4C32493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5F46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C5F467"/>
                </a:solidFill>
              </a:defRPr>
            </a:pPr>
            <a:r>
              <a:rPr sz="1500" b="1">
                <a:solidFill>
                  <a:srgbClr val="C5F467"/>
                </a:solidFill>
              </a:rPr>
              <a:t>Siguiente paso: validar términos ambiguos con negocio e implementar adaptadores en Actividad 4.</a:t>
            </a:r>
          </a:p>
        </p:txBody>
      </p:sp>
    </p:spTree>
    <p:extLst>
      <p:ext uri="{BB962C8B-B14F-4D97-AF65-F5344CB8AC3E}">
        <p14:creationId xmlns:p14="http://schemas.microsoft.com/office/powerpoint/2010/main" val="2031962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2026-10-11T09:22:45.9290000Z</dcterms:created>
  <dcterms:modified xsi:type="dcterms:W3CDTF">2026-10-11T09:22:45.9290000Z</dcterms:modified>
</coreProperties>
</file>